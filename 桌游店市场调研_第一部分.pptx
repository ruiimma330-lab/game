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65760" y="8001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一、空间与人群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44200" y="80010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桌游调研报告</a:t>
            </a:r>
          </a:p>
        </p:txBody>
      </p:sp>
      <p:sp>
        <p:nvSpPr>
          <p:cNvPr id="5" name="Line 5"/>
          <p:cNvSpPr/>
          <p:nvPr/>
        </p:nvSpPr>
        <p:spPr>
          <a:xfrm>
            <a:off x="381000" y="2857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381000" y="342900"/>
            <a:ext cx="28575" cy="495300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80060" y="537210"/>
            <a:ext cx="429806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中国桌游市场规模达 273.8 亿元，社交玩家占最大份额</a:t>
            </a:r>
          </a:p>
        </p:txBody>
      </p:sp>
      <p:sp>
        <p:nvSpPr>
          <p:cNvPr id="8" name="Line 8"/>
          <p:cNvSpPr/>
          <p:nvPr/>
        </p:nvSpPr>
        <p:spPr>
          <a:xfrm>
            <a:off x="381000" y="8953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9" name="Line 9"/>
          <p:cNvSpPr/>
          <p:nvPr/>
        </p:nvSpPr>
        <p:spPr>
          <a:xfrm>
            <a:off x="952500" y="1238250"/>
            <a:ext cx="9525" cy="4381500"/>
          </a:xfrm>
          <a:custGeom>
            <a:avLst/>
            <a:gdLst/>
            <a:ahLst/>
            <a:cxnLst/>
            <a:rect l="l" t="t" r="r" b="b"/>
            <a:pathLst>
              <a:path w="9525" h="4381500">
                <a:moveTo>
                  <a:pt x="0" y="0"/>
                </a:moveTo>
                <a:lnTo>
                  <a:pt x="0" y="4381500"/>
                </a:lnTo>
              </a:path>
            </a:pathLst>
          </a:custGeom>
          <a:noFill/>
          <a:ln w="4762">
            <a:solidFill>
              <a:srgbClr val="888888"/>
            </a:solidFill>
          </a:ln>
        </p:spPr>
      </p:sp>
      <p:sp>
        <p:nvSpPr>
          <p:cNvPr id="10" name="Line 10"/>
          <p:cNvSpPr/>
          <p:nvPr/>
        </p:nvSpPr>
        <p:spPr>
          <a:xfrm>
            <a:off x="952500" y="5619750"/>
            <a:ext cx="6286500" cy="9525"/>
          </a:xfrm>
          <a:custGeom>
            <a:avLst/>
            <a:gdLst/>
            <a:ahLst/>
            <a:cxnLst/>
            <a:rect l="l" t="t" r="r" b="b"/>
            <a:pathLst>
              <a:path w="6286500" h="9525">
                <a:moveTo>
                  <a:pt x="0" y="0"/>
                </a:moveTo>
                <a:lnTo>
                  <a:pt x="6286500" y="0"/>
                </a:lnTo>
              </a:path>
            </a:pathLst>
          </a:custGeom>
          <a:noFill/>
          <a:ln w="4762">
            <a:solidFill>
              <a:srgbClr val="888888"/>
            </a:solidFill>
          </a:ln>
        </p:spPr>
      </p:sp>
      <p:sp>
        <p:nvSpPr>
          <p:cNvPr id="11" name="Line 11"/>
          <p:cNvSpPr/>
          <p:nvPr/>
        </p:nvSpPr>
        <p:spPr>
          <a:xfrm>
            <a:off x="952500" y="5619750"/>
            <a:ext cx="6286500" cy="9525"/>
          </a:xfrm>
          <a:custGeom>
            <a:avLst/>
            <a:gdLst/>
            <a:ahLst/>
            <a:cxnLst/>
            <a:rect l="l" t="t" r="r" b="b"/>
            <a:pathLst>
              <a:path w="6286500" h="9525">
                <a:moveTo>
                  <a:pt x="0" y="0"/>
                </a:moveTo>
                <a:lnTo>
                  <a:pt x="6286500" y="0"/>
                </a:lnTo>
              </a:path>
            </a:pathLst>
          </a:custGeom>
          <a:noFill/>
          <a:ln w="4762">
            <a:solidFill>
              <a:srgbClr val="E2E2E2"/>
            </a:solidFill>
            <a:prstDash val="sysDot"/>
          </a:ln>
        </p:spPr>
      </p:sp>
      <p:sp>
        <p:nvSpPr>
          <p:cNvPr id="12" name="TextBox 12"/>
          <p:cNvSpPr txBox="1"/>
          <p:nvPr/>
        </p:nvSpPr>
        <p:spPr>
          <a:xfrm>
            <a:off x="825579" y="5576888"/>
            <a:ext cx="792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0</a:t>
            </a:r>
          </a:p>
        </p:txBody>
      </p:sp>
      <p:sp>
        <p:nvSpPr>
          <p:cNvPr id="13" name="Line 13"/>
          <p:cNvSpPr/>
          <p:nvPr/>
        </p:nvSpPr>
        <p:spPr>
          <a:xfrm>
            <a:off x="952500" y="4889500"/>
            <a:ext cx="6286500" cy="9525"/>
          </a:xfrm>
          <a:custGeom>
            <a:avLst/>
            <a:gdLst/>
            <a:ahLst/>
            <a:cxnLst/>
            <a:rect l="l" t="t" r="r" b="b"/>
            <a:pathLst>
              <a:path w="6286500" h="9525">
                <a:moveTo>
                  <a:pt x="0" y="0"/>
                </a:moveTo>
                <a:lnTo>
                  <a:pt x="6286500" y="0"/>
                </a:lnTo>
              </a:path>
            </a:pathLst>
          </a:custGeom>
          <a:noFill/>
          <a:ln w="4762">
            <a:solidFill>
              <a:srgbClr val="E2E2E2"/>
            </a:solidFill>
            <a:prstDash val="sysDot"/>
          </a:ln>
        </p:spPr>
      </p:sp>
      <p:sp>
        <p:nvSpPr>
          <p:cNvPr id="14" name="TextBox 14"/>
          <p:cNvSpPr txBox="1"/>
          <p:nvPr/>
        </p:nvSpPr>
        <p:spPr>
          <a:xfrm>
            <a:off x="765334" y="4846638"/>
            <a:ext cx="13954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50</a:t>
            </a:r>
          </a:p>
        </p:txBody>
      </p:sp>
      <p:sp>
        <p:nvSpPr>
          <p:cNvPr id="15" name="Line 15"/>
          <p:cNvSpPr/>
          <p:nvPr/>
        </p:nvSpPr>
        <p:spPr>
          <a:xfrm>
            <a:off x="952500" y="4159250"/>
            <a:ext cx="6286500" cy="9525"/>
          </a:xfrm>
          <a:custGeom>
            <a:avLst/>
            <a:gdLst/>
            <a:ahLst/>
            <a:cxnLst/>
            <a:rect l="l" t="t" r="r" b="b"/>
            <a:pathLst>
              <a:path w="6286500" h="9525">
                <a:moveTo>
                  <a:pt x="0" y="0"/>
                </a:moveTo>
                <a:lnTo>
                  <a:pt x="6286500" y="0"/>
                </a:lnTo>
              </a:path>
            </a:pathLst>
          </a:custGeom>
          <a:noFill/>
          <a:ln w="4762">
            <a:solidFill>
              <a:srgbClr val="E2E2E2"/>
            </a:solidFill>
            <a:prstDash val="sysDot"/>
          </a:ln>
        </p:spPr>
      </p:sp>
      <p:sp>
        <p:nvSpPr>
          <p:cNvPr id="16" name="TextBox 16"/>
          <p:cNvSpPr txBox="1"/>
          <p:nvPr/>
        </p:nvSpPr>
        <p:spPr>
          <a:xfrm>
            <a:off x="732472" y="4116388"/>
            <a:ext cx="1724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100</a:t>
            </a:r>
          </a:p>
        </p:txBody>
      </p:sp>
      <p:sp>
        <p:nvSpPr>
          <p:cNvPr id="17" name="Line 17"/>
          <p:cNvSpPr/>
          <p:nvPr/>
        </p:nvSpPr>
        <p:spPr>
          <a:xfrm>
            <a:off x="952500" y="3429000"/>
            <a:ext cx="6286500" cy="9525"/>
          </a:xfrm>
          <a:custGeom>
            <a:avLst/>
            <a:gdLst/>
            <a:ahLst/>
            <a:cxnLst/>
            <a:rect l="l" t="t" r="r" b="b"/>
            <a:pathLst>
              <a:path w="6286500" h="9525">
                <a:moveTo>
                  <a:pt x="0" y="0"/>
                </a:moveTo>
                <a:lnTo>
                  <a:pt x="6286500" y="0"/>
                </a:lnTo>
              </a:path>
            </a:pathLst>
          </a:custGeom>
          <a:noFill/>
          <a:ln w="4762">
            <a:solidFill>
              <a:srgbClr val="E2E2E2"/>
            </a:solidFill>
            <a:prstDash val="sysDot"/>
          </a:ln>
        </p:spPr>
      </p:sp>
      <p:sp>
        <p:nvSpPr>
          <p:cNvPr id="18" name="TextBox 18"/>
          <p:cNvSpPr txBox="1"/>
          <p:nvPr/>
        </p:nvSpPr>
        <p:spPr>
          <a:xfrm>
            <a:off x="732472" y="3386138"/>
            <a:ext cx="17240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150</a:t>
            </a:r>
          </a:p>
        </p:txBody>
      </p:sp>
      <p:sp>
        <p:nvSpPr>
          <p:cNvPr id="19" name="Line 19"/>
          <p:cNvSpPr/>
          <p:nvPr/>
        </p:nvSpPr>
        <p:spPr>
          <a:xfrm>
            <a:off x="952500" y="2698750"/>
            <a:ext cx="6286500" cy="9525"/>
          </a:xfrm>
          <a:custGeom>
            <a:avLst/>
            <a:gdLst/>
            <a:ahLst/>
            <a:cxnLst/>
            <a:rect l="l" t="t" r="r" b="b"/>
            <a:pathLst>
              <a:path w="6286500" h="9525">
                <a:moveTo>
                  <a:pt x="0" y="0"/>
                </a:moveTo>
                <a:lnTo>
                  <a:pt x="6286500" y="0"/>
                </a:lnTo>
              </a:path>
            </a:pathLst>
          </a:custGeom>
          <a:noFill/>
          <a:ln w="4762">
            <a:solidFill>
              <a:srgbClr val="E2E2E2"/>
            </a:solidFill>
            <a:prstDash val="sysDot"/>
          </a:ln>
        </p:spPr>
      </p:sp>
      <p:sp>
        <p:nvSpPr>
          <p:cNvPr id="20" name="TextBox 20"/>
          <p:cNvSpPr txBox="1"/>
          <p:nvPr/>
        </p:nvSpPr>
        <p:spPr>
          <a:xfrm>
            <a:off x="705088" y="26558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200</a:t>
            </a:r>
          </a:p>
        </p:txBody>
      </p:sp>
      <p:sp>
        <p:nvSpPr>
          <p:cNvPr id="21" name="Line 21"/>
          <p:cNvSpPr/>
          <p:nvPr/>
        </p:nvSpPr>
        <p:spPr>
          <a:xfrm>
            <a:off x="952500" y="1968500"/>
            <a:ext cx="6286500" cy="9525"/>
          </a:xfrm>
          <a:custGeom>
            <a:avLst/>
            <a:gdLst/>
            <a:ahLst/>
            <a:cxnLst/>
            <a:rect l="l" t="t" r="r" b="b"/>
            <a:pathLst>
              <a:path w="6286500" h="9525">
                <a:moveTo>
                  <a:pt x="0" y="0"/>
                </a:moveTo>
                <a:lnTo>
                  <a:pt x="6286500" y="0"/>
                </a:lnTo>
              </a:path>
            </a:pathLst>
          </a:custGeom>
          <a:noFill/>
          <a:ln w="4762">
            <a:solidFill>
              <a:srgbClr val="E2E2E2"/>
            </a:solidFill>
            <a:prstDash val="sysDot"/>
          </a:ln>
        </p:spPr>
      </p:sp>
      <p:sp>
        <p:nvSpPr>
          <p:cNvPr id="22" name="TextBox 22"/>
          <p:cNvSpPr txBox="1"/>
          <p:nvPr/>
        </p:nvSpPr>
        <p:spPr>
          <a:xfrm>
            <a:off x="705088" y="1925637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250</a:t>
            </a:r>
          </a:p>
        </p:txBody>
      </p:sp>
      <p:sp>
        <p:nvSpPr>
          <p:cNvPr id="23" name="Line 23"/>
          <p:cNvSpPr/>
          <p:nvPr/>
        </p:nvSpPr>
        <p:spPr>
          <a:xfrm>
            <a:off x="952500" y="1238250"/>
            <a:ext cx="6286500" cy="9525"/>
          </a:xfrm>
          <a:custGeom>
            <a:avLst/>
            <a:gdLst/>
            <a:ahLst/>
            <a:cxnLst/>
            <a:rect l="l" t="t" r="r" b="b"/>
            <a:pathLst>
              <a:path w="6286500" h="9525">
                <a:moveTo>
                  <a:pt x="0" y="0"/>
                </a:moveTo>
                <a:lnTo>
                  <a:pt x="6286500" y="0"/>
                </a:lnTo>
              </a:path>
            </a:pathLst>
          </a:custGeom>
          <a:noFill/>
          <a:ln w="4762">
            <a:solidFill>
              <a:srgbClr val="E2E2E2"/>
            </a:solidFill>
            <a:prstDash val="sysDot"/>
          </a:ln>
        </p:spPr>
      </p:sp>
      <p:sp>
        <p:nvSpPr>
          <p:cNvPr id="24" name="TextBox 24"/>
          <p:cNvSpPr txBox="1"/>
          <p:nvPr/>
        </p:nvSpPr>
        <p:spPr>
          <a:xfrm>
            <a:off x="705088" y="1195388"/>
            <a:ext cx="19978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300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61975" y="1062038"/>
            <a:ext cx="23812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亿元</a:t>
            </a:r>
          </a:p>
        </p:txBody>
      </p:sp>
      <p:sp>
        <p:nvSpPr>
          <p:cNvPr id="26" name="Rectangle 26"/>
          <p:cNvSpPr/>
          <p:nvPr/>
        </p:nvSpPr>
        <p:spPr>
          <a:xfrm>
            <a:off x="1129308" y="4982972"/>
            <a:ext cx="432197" cy="636778"/>
          </a:xfrm>
          <a:prstGeom prst="rect">
            <a:avLst/>
          </a:prstGeom>
          <a:solidFill>
            <a:srgbClr val="1677FF">
              <a:alpha val="85000"/>
            </a:srgbClr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195761" y="4817713"/>
            <a:ext cx="2992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43.6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217450" y="5702141"/>
            <a:ext cx="2559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2017</a:t>
            </a:r>
          </a:p>
        </p:txBody>
      </p:sp>
      <p:sp>
        <p:nvSpPr>
          <p:cNvPr id="29" name="Rectangle 29"/>
          <p:cNvSpPr/>
          <p:nvPr/>
        </p:nvSpPr>
        <p:spPr>
          <a:xfrm>
            <a:off x="1915120" y="4791646"/>
            <a:ext cx="432197" cy="828104"/>
          </a:xfrm>
          <a:prstGeom prst="rect">
            <a:avLst/>
          </a:prstGeom>
          <a:solidFill>
            <a:srgbClr val="1677FF">
              <a:alpha val="85000"/>
            </a:srgbClr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2003262" y="5702141"/>
            <a:ext cx="2559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2018</a:t>
            </a:r>
          </a:p>
        </p:txBody>
      </p:sp>
      <p:sp>
        <p:nvSpPr>
          <p:cNvPr id="31" name="Rectangle 31"/>
          <p:cNvSpPr/>
          <p:nvPr/>
        </p:nvSpPr>
        <p:spPr>
          <a:xfrm>
            <a:off x="2700933" y="4543362"/>
            <a:ext cx="432197" cy="1076388"/>
          </a:xfrm>
          <a:prstGeom prst="rect">
            <a:avLst/>
          </a:prstGeom>
          <a:solidFill>
            <a:srgbClr val="1677FF">
              <a:alpha val="85000"/>
            </a:srgbClr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2767386" y="4378103"/>
            <a:ext cx="2992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73.7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789075" y="5702141"/>
            <a:ext cx="2559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2019</a:t>
            </a:r>
          </a:p>
        </p:txBody>
      </p:sp>
      <p:sp>
        <p:nvSpPr>
          <p:cNvPr id="34" name="Rectangle 34"/>
          <p:cNvSpPr/>
          <p:nvPr/>
        </p:nvSpPr>
        <p:spPr>
          <a:xfrm>
            <a:off x="3486745" y="4220591"/>
            <a:ext cx="432197" cy="1399159"/>
          </a:xfrm>
          <a:prstGeom prst="rect">
            <a:avLst/>
          </a:prstGeom>
          <a:solidFill>
            <a:srgbClr val="1677FF">
              <a:alpha val="85000"/>
            </a:srgbClr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3559826" y="5702141"/>
            <a:ext cx="28603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2020</a:t>
            </a:r>
          </a:p>
        </p:txBody>
      </p:sp>
      <p:sp>
        <p:nvSpPr>
          <p:cNvPr id="36" name="Rectangle 36"/>
          <p:cNvSpPr/>
          <p:nvPr/>
        </p:nvSpPr>
        <p:spPr>
          <a:xfrm>
            <a:off x="4272558" y="3799967"/>
            <a:ext cx="432197" cy="1819783"/>
          </a:xfrm>
          <a:prstGeom prst="rect">
            <a:avLst/>
          </a:prstGeom>
          <a:solidFill>
            <a:srgbClr val="1677FF">
              <a:alpha val="85000"/>
            </a:srgbClr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4320034" y="3634708"/>
            <a:ext cx="33724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124.6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360700" y="5702141"/>
            <a:ext cx="2559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2021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058370" y="3253740"/>
            <a:ext cx="432197" cy="2366010"/>
          </a:xfrm>
          <a:prstGeom prst="rect">
            <a:avLst/>
          </a:prstGeom>
          <a:solidFill>
            <a:srgbClr val="1677FF">
              <a:alpha val="85000"/>
            </a:srgbClr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5131451" y="5702141"/>
            <a:ext cx="28603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2022</a:t>
            </a:r>
          </a:p>
        </p:txBody>
      </p:sp>
      <p:sp>
        <p:nvSpPr>
          <p:cNvPr id="41" name="Rectangle 41"/>
          <p:cNvSpPr/>
          <p:nvPr/>
        </p:nvSpPr>
        <p:spPr>
          <a:xfrm>
            <a:off x="5844183" y="2543937"/>
            <a:ext cx="432197" cy="3075813"/>
          </a:xfrm>
          <a:prstGeom prst="rect">
            <a:avLst/>
          </a:prstGeom>
          <a:solidFill>
            <a:srgbClr val="1677FF">
              <a:alpha val="85000"/>
            </a:srgbClr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5891659" y="2378678"/>
            <a:ext cx="33724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210.6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917263" y="5702141"/>
            <a:ext cx="28603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2023</a:t>
            </a:r>
          </a:p>
        </p:txBody>
      </p:sp>
      <p:sp>
        <p:nvSpPr>
          <p:cNvPr id="44" name="Rectangle 44"/>
          <p:cNvSpPr/>
          <p:nvPr/>
        </p:nvSpPr>
        <p:spPr>
          <a:xfrm>
            <a:off x="6629995" y="1620901"/>
            <a:ext cx="432197" cy="3998849"/>
          </a:xfrm>
          <a:prstGeom prst="rect">
            <a:avLst/>
          </a:prstGeom>
          <a:solidFill>
            <a:srgbClr val="1677FF">
              <a:alpha val="85000"/>
            </a:srgbClr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6661657" y="1455642"/>
            <a:ext cx="36887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273.8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703076" y="5702141"/>
            <a:ext cx="28603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2024</a:t>
            </a:r>
          </a:p>
        </p:txBody>
      </p:sp>
      <p:sp>
        <p:nvSpPr>
          <p:cNvPr id="47" name="Rectangle 47"/>
          <p:cNvSpPr/>
          <p:nvPr/>
        </p:nvSpPr>
        <p:spPr>
          <a:xfrm>
            <a:off x="6591895" y="1582801"/>
            <a:ext cx="508397" cy="4075049"/>
          </a:xfrm>
          <a:prstGeom prst="rect">
            <a:avLst/>
          </a:prstGeom>
          <a:noFill/>
          <a:ln w="14288">
            <a:solidFill>
              <a:srgbClr val="1677FF"/>
            </a:solidFill>
          </a:ln>
        </p:spPr>
      </p:sp>
      <p:sp>
        <p:nvSpPr>
          <p:cNvPr id="48" name="Rectangle 48"/>
          <p:cNvSpPr/>
          <p:nvPr/>
        </p:nvSpPr>
        <p:spPr>
          <a:xfrm>
            <a:off x="7810500" y="952500"/>
            <a:ext cx="4000500" cy="51435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8028622" y="124444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市场规模</a:t>
            </a:r>
          </a:p>
        </p:txBody>
      </p:sp>
      <p:sp>
        <p:nvSpPr>
          <p:cNvPr id="50" name="Line 50"/>
          <p:cNvSpPr/>
          <p:nvPr/>
        </p:nvSpPr>
        <p:spPr>
          <a:xfrm>
            <a:off x="8039100" y="1428750"/>
            <a:ext cx="914400" cy="9525"/>
          </a:xfrm>
          <a:custGeom>
            <a:avLst/>
            <a:gdLst/>
            <a:ahLst/>
            <a:cxnLst/>
            <a:rect l="l" t="t" r="r" b="b"/>
            <a:pathLst>
              <a:path w="914400" h="9525">
                <a:moveTo>
                  <a:pt x="0" y="0"/>
                </a:moveTo>
                <a:lnTo>
                  <a:pt x="914400" y="0"/>
                </a:lnTo>
              </a:path>
            </a:pathLst>
          </a:custGeom>
          <a:noFill/>
          <a:ln w="14288">
            <a:solidFill>
              <a:srgbClr val="1677FF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7993380" y="1611630"/>
            <a:ext cx="1609630" cy="7315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600" b="1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273.8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9797415" y="1839278"/>
            <a:ext cx="3333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亿元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026718" y="2180749"/>
            <a:ext cx="159115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2017-2024 年复合增长率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8012430" y="2345055"/>
            <a:ext cx="111607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29.97%</a:t>
            </a:r>
          </a:p>
        </p:txBody>
      </p:sp>
      <p:sp>
        <p:nvSpPr>
          <p:cNvPr id="55" name="Line 55"/>
          <p:cNvSpPr/>
          <p:nvPr/>
        </p:nvSpPr>
        <p:spPr>
          <a:xfrm>
            <a:off x="8039100" y="2857500"/>
            <a:ext cx="3543300" cy="9525"/>
          </a:xfrm>
          <a:custGeom>
            <a:avLst/>
            <a:gdLst/>
            <a:ahLst/>
            <a:cxnLst/>
            <a:rect l="l" t="t" r="r" b="b"/>
            <a:pathLst>
              <a:path w="3543300" h="9525">
                <a:moveTo>
                  <a:pt x="0" y="0"/>
                </a:moveTo>
                <a:lnTo>
                  <a:pt x="35433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8028622" y="314944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用户结构</a:t>
            </a:r>
          </a:p>
        </p:txBody>
      </p:sp>
      <p:sp>
        <p:nvSpPr>
          <p:cNvPr id="57" name="Line 57"/>
          <p:cNvSpPr/>
          <p:nvPr/>
        </p:nvSpPr>
        <p:spPr>
          <a:xfrm>
            <a:off x="8039100" y="3333750"/>
            <a:ext cx="723900" cy="9525"/>
          </a:xfrm>
          <a:custGeom>
            <a:avLst/>
            <a:gdLst/>
            <a:ahLst/>
            <a:cxnLst/>
            <a:rect l="l" t="t" r="r" b="b"/>
            <a:pathLst>
              <a:path w="723900" h="9525">
                <a:moveTo>
                  <a:pt x="0" y="0"/>
                </a:moveTo>
                <a:lnTo>
                  <a:pt x="723900" y="0"/>
                </a:lnTo>
              </a:path>
            </a:pathLst>
          </a:custGeom>
          <a:noFill/>
          <a:ln w="14288">
            <a:solidFill>
              <a:srgbClr val="1677FF"/>
            </a:solidFill>
          </a:ln>
        </p:spPr>
      </p:sp>
      <p:sp>
        <p:nvSpPr>
          <p:cNvPr id="58" name="Rectangle 58"/>
          <p:cNvSpPr/>
          <p:nvPr/>
        </p:nvSpPr>
        <p:spPr>
          <a:xfrm>
            <a:off x="8039100" y="3524250"/>
            <a:ext cx="2323272" cy="152400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10427142" y="3550920"/>
            <a:ext cx="250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33%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8027670" y="3789045"/>
            <a:ext cx="14884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社交玩家 — 核心消费群体</a:t>
            </a:r>
          </a:p>
        </p:txBody>
      </p:sp>
      <p:sp>
        <p:nvSpPr>
          <p:cNvPr id="61" name="Rectangle 61"/>
          <p:cNvSpPr/>
          <p:nvPr/>
        </p:nvSpPr>
        <p:spPr>
          <a:xfrm>
            <a:off x="8039100" y="4048125"/>
            <a:ext cx="1478446" cy="152400"/>
          </a:xfrm>
          <a:prstGeom prst="rect">
            <a:avLst/>
          </a:prstGeom>
          <a:solidFill>
            <a:srgbClr val="4096FF"/>
          </a:solidFill>
          <a:ln>
            <a:noFill/>
          </a:ln>
        </p:spPr>
      </p:sp>
      <p:sp>
        <p:nvSpPr>
          <p:cNvPr id="62" name="TextBox 62"/>
          <p:cNvSpPr txBox="1"/>
          <p:nvPr/>
        </p:nvSpPr>
        <p:spPr>
          <a:xfrm>
            <a:off x="9582316" y="4074795"/>
            <a:ext cx="21608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21%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8027670" y="4312920"/>
            <a:ext cx="161991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核心玩家 — 重度策略爱好者</a:t>
            </a:r>
          </a:p>
        </p:txBody>
      </p:sp>
      <p:sp>
        <p:nvSpPr>
          <p:cNvPr id="64" name="Rectangle 64"/>
          <p:cNvSpPr/>
          <p:nvPr/>
        </p:nvSpPr>
        <p:spPr>
          <a:xfrm>
            <a:off x="8039100" y="4572000"/>
            <a:ext cx="3238500" cy="152400"/>
          </a:xfrm>
          <a:prstGeom prst="rect">
            <a:avLst/>
          </a:prstGeom>
          <a:solidFill>
            <a:srgbClr val="91CAFF"/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11342370" y="4598670"/>
            <a:ext cx="250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46%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8027670" y="4836795"/>
            <a:ext cx="135702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轻度尝鲜者 — 其余占比</a:t>
            </a:r>
          </a:p>
        </p:txBody>
      </p:sp>
      <p:sp>
        <p:nvSpPr>
          <p:cNvPr id="67" name="Rectangle 67"/>
          <p:cNvSpPr/>
          <p:nvPr/>
        </p:nvSpPr>
        <p:spPr>
          <a:xfrm>
            <a:off x="8039100" y="5143500"/>
            <a:ext cx="3543300" cy="666750"/>
          </a:xfrm>
          <a:prstGeom prst="rect">
            <a:avLst/>
          </a:prstGeom>
          <a:solidFill>
            <a:srgbClr val="E8F0FA"/>
          </a:solidFill>
          <a:ln w="4762">
            <a:solidFill>
              <a:srgbClr val="1677FF"/>
            </a:solidFill>
          </a:ln>
        </p:spPr>
      </p:sp>
      <p:sp>
        <p:nvSpPr>
          <p:cNvPr id="68" name="TextBox 68"/>
          <p:cNvSpPr txBox="1"/>
          <p:nvPr/>
        </p:nvSpPr>
        <p:spPr>
          <a:xfrm>
            <a:off x="8180070" y="5313045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关键洞察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8180070" y="5522595"/>
            <a:ext cx="22574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桌游吧真正赚钱靠的是社交型轻度玩家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8180070" y="5694045"/>
            <a:ext cx="19945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降低信息获取门槛是核心设计方向</a:t>
            </a:r>
          </a:p>
        </p:txBody>
      </p:sp>
      <p:sp>
        <p:nvSpPr>
          <p:cNvPr id="71" name="Line 71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72" name="TextBox 72"/>
          <p:cNvSpPr txBox="1"/>
          <p:nvPr/>
        </p:nvSpPr>
        <p:spPr>
          <a:xfrm>
            <a:off x="365760" y="6614160"/>
            <a:ext cx="619963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来源：华经产业研究院《2025年中国桌游行业发展现状及趋势分析》 · 2026-06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11445240" y="6614160"/>
            <a:ext cx="3810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65760" y="80010"/>
            <a:ext cx="12573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一、空间与人群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44200" y="80010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桌游调研报告</a:t>
            </a:r>
          </a:p>
        </p:txBody>
      </p:sp>
      <p:sp>
        <p:nvSpPr>
          <p:cNvPr id="5" name="Line 5"/>
          <p:cNvSpPr/>
          <p:nvPr/>
        </p:nvSpPr>
        <p:spPr>
          <a:xfrm>
            <a:off x="381000" y="2857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381000" y="342900"/>
            <a:ext cx="28575" cy="495300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80060" y="537210"/>
            <a:ext cx="45872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社交型轻度玩家是核心消费群体，降低信息门槛为设计方向</a:t>
            </a:r>
          </a:p>
        </p:txBody>
      </p:sp>
      <p:sp>
        <p:nvSpPr>
          <p:cNvPr id="8" name="Line 8"/>
          <p:cNvSpPr/>
          <p:nvPr/>
        </p:nvSpPr>
        <p:spPr>
          <a:xfrm>
            <a:off x="381000" y="8953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381000" y="952500"/>
            <a:ext cx="3619500" cy="51435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520065" y="1105852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用户类型分层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1970" y="1541145"/>
            <a:ext cx="122558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轻度尝鲜者 / 收藏党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33400" y="1714500"/>
            <a:ext cx="2476500" cy="209550"/>
          </a:xfrm>
          <a:prstGeom prst="rect">
            <a:avLst/>
          </a:prstGeom>
          <a:solidFill>
            <a:srgbClr val="91CAFF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3072765" y="1753552"/>
            <a:ext cx="2923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46%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21970" y="220789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社交玩家</a:t>
            </a:r>
          </a:p>
        </p:txBody>
      </p:sp>
      <p:sp>
        <p:nvSpPr>
          <p:cNvPr id="15" name="Rectangle 15"/>
          <p:cNvSpPr/>
          <p:nvPr/>
        </p:nvSpPr>
        <p:spPr>
          <a:xfrm>
            <a:off x="533400" y="2381250"/>
            <a:ext cx="1776620" cy="209550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2372885" y="2420302"/>
            <a:ext cx="2923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33%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21970" y="2874645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核心玩家</a:t>
            </a:r>
          </a:p>
        </p:txBody>
      </p:sp>
      <p:sp>
        <p:nvSpPr>
          <p:cNvPr id="18" name="Rectangle 18"/>
          <p:cNvSpPr/>
          <p:nvPr/>
        </p:nvSpPr>
        <p:spPr>
          <a:xfrm>
            <a:off x="533400" y="3048000"/>
            <a:ext cx="1130576" cy="209550"/>
          </a:xfrm>
          <a:prstGeom prst="rect">
            <a:avLst/>
          </a:prstGeom>
          <a:solidFill>
            <a:srgbClr val="4096FF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1726841" y="3087052"/>
            <a:ext cx="25209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21%</a:t>
            </a:r>
          </a:p>
        </p:txBody>
      </p:sp>
      <p:sp>
        <p:nvSpPr>
          <p:cNvPr id="20" name="Rectangle 20"/>
          <p:cNvSpPr/>
          <p:nvPr/>
        </p:nvSpPr>
        <p:spPr>
          <a:xfrm>
            <a:off x="533400" y="3905250"/>
            <a:ext cx="3314700" cy="762000"/>
          </a:xfrm>
          <a:prstGeom prst="rect">
            <a:avLst/>
          </a:prstGeom>
          <a:solidFill>
            <a:srgbClr val="E8F0FA"/>
          </a:solidFill>
          <a:ln w="4762">
            <a:solidFill>
              <a:srgbClr val="1677FF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674370" y="4074795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核心洞察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74370" y="4303395"/>
            <a:ext cx="16133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社交玩家是桌游店"现金牛"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74370" y="4493895"/>
            <a:ext cx="16002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核心玩家自带圈子，难变现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191000" y="952500"/>
            <a:ext cx="3619500" cy="51435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25" name="TextBox 25"/>
          <p:cNvSpPr txBox="1"/>
          <p:nvPr/>
        </p:nvSpPr>
        <p:spPr>
          <a:xfrm>
            <a:off x="4330065" y="1105852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消费动机排序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331970" y="1636395"/>
            <a:ext cx="12058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找个地方和朋友聚会</a:t>
            </a:r>
          </a:p>
        </p:txBody>
      </p:sp>
      <p:sp>
        <p:nvSpPr>
          <p:cNvPr id="27" name="Rectangle 27"/>
          <p:cNvSpPr/>
          <p:nvPr/>
        </p:nvSpPr>
        <p:spPr>
          <a:xfrm>
            <a:off x="4343400" y="1524000"/>
            <a:ext cx="2476500" cy="266700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4331970" y="2379345"/>
            <a:ext cx="95611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逃离'屏幕孤独'</a:t>
            </a:r>
          </a:p>
        </p:txBody>
      </p:sp>
      <p:sp>
        <p:nvSpPr>
          <p:cNvPr id="29" name="Rectangle 29"/>
          <p:cNvSpPr/>
          <p:nvPr/>
        </p:nvSpPr>
        <p:spPr>
          <a:xfrm>
            <a:off x="4343400" y="2266950"/>
            <a:ext cx="1857375" cy="266700"/>
          </a:xfrm>
          <a:prstGeom prst="rect">
            <a:avLst/>
          </a:prstGeom>
          <a:solidFill>
            <a:srgbClr val="1677FF">
              <a:alpha val="87500"/>
            </a:srgbClr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4331970" y="3122295"/>
            <a:ext cx="96269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破冰 / 团建需求</a:t>
            </a:r>
          </a:p>
        </p:txBody>
      </p:sp>
      <p:sp>
        <p:nvSpPr>
          <p:cNvPr id="31" name="Rectangle 31"/>
          <p:cNvSpPr/>
          <p:nvPr/>
        </p:nvSpPr>
        <p:spPr>
          <a:xfrm>
            <a:off x="4343400" y="3009900"/>
            <a:ext cx="1238250" cy="266700"/>
          </a:xfrm>
          <a:prstGeom prst="rect">
            <a:avLst/>
          </a:prstGeom>
          <a:solidFill>
            <a:srgbClr val="1677FF">
              <a:alpha val="75000"/>
            </a:srgbClr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4331970" y="3865245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尝鲜体验新游戏</a:t>
            </a:r>
          </a:p>
        </p:txBody>
      </p:sp>
      <p:sp>
        <p:nvSpPr>
          <p:cNvPr id="33" name="Rectangle 33"/>
          <p:cNvSpPr/>
          <p:nvPr/>
        </p:nvSpPr>
        <p:spPr>
          <a:xfrm>
            <a:off x="4343400" y="3752850"/>
            <a:ext cx="619125" cy="266700"/>
          </a:xfrm>
          <a:prstGeom prst="rect">
            <a:avLst/>
          </a:prstGeom>
          <a:solidFill>
            <a:srgbClr val="1677FF">
              <a:alpha val="62500"/>
            </a:srgbClr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4343400" y="4953000"/>
            <a:ext cx="3314700" cy="85725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4485322" y="5130641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时段特征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484370" y="5351145"/>
            <a:ext cx="217855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旺季：周末 / 节假日（翻台 3-4 轮）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484370" y="5579745"/>
            <a:ext cx="10744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淡季：工作日白天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484370" y="5751195"/>
            <a:ext cx="161334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"潮汐现象"是经营核心挑战</a:t>
            </a:r>
          </a:p>
        </p:txBody>
      </p:sp>
      <p:sp>
        <p:nvSpPr>
          <p:cNvPr id="39" name="Rectangle 39"/>
          <p:cNvSpPr/>
          <p:nvPr/>
        </p:nvSpPr>
        <p:spPr>
          <a:xfrm>
            <a:off x="8001000" y="952500"/>
            <a:ext cx="3810000" cy="51435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8140065" y="11058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人群画像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141970" y="1426845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性别分布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142922" y="1692116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男性</a:t>
            </a:r>
          </a:p>
        </p:txBody>
      </p:sp>
      <p:sp>
        <p:nvSpPr>
          <p:cNvPr id="43" name="Rectangle 43"/>
          <p:cNvSpPr/>
          <p:nvPr/>
        </p:nvSpPr>
        <p:spPr>
          <a:xfrm>
            <a:off x="8763000" y="1666875"/>
            <a:ext cx="2857500" cy="171450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44" name="TextBox 44"/>
          <p:cNvSpPr txBox="1"/>
          <p:nvPr/>
        </p:nvSpPr>
        <p:spPr>
          <a:xfrm>
            <a:off x="11667172" y="1711166"/>
            <a:ext cx="22970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60%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142922" y="1977866"/>
            <a:ext cx="26193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女性</a:t>
            </a:r>
          </a:p>
        </p:txBody>
      </p:sp>
      <p:sp>
        <p:nvSpPr>
          <p:cNvPr id="46" name="Rectangle 46"/>
          <p:cNvSpPr/>
          <p:nvPr/>
        </p:nvSpPr>
        <p:spPr>
          <a:xfrm>
            <a:off x="8763000" y="1952625"/>
            <a:ext cx="1905000" cy="171450"/>
          </a:xfrm>
          <a:prstGeom prst="rect">
            <a:avLst/>
          </a:prstGeom>
          <a:solidFill>
            <a:srgbClr val="91CAFF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10714672" y="1996916"/>
            <a:ext cx="22970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40%</a:t>
            </a:r>
          </a:p>
        </p:txBody>
      </p:sp>
      <p:sp>
        <p:nvSpPr>
          <p:cNvPr id="48" name="Line 48"/>
          <p:cNvSpPr/>
          <p:nvPr/>
        </p:nvSpPr>
        <p:spPr>
          <a:xfrm>
            <a:off x="8153400" y="2333625"/>
            <a:ext cx="3505200" cy="9525"/>
          </a:xfrm>
          <a:custGeom>
            <a:avLst/>
            <a:gdLst/>
            <a:ahLst/>
            <a:cxnLst/>
            <a:rect l="l" t="t" r="r" b="b"/>
            <a:pathLst>
              <a:path w="3505200" h="9525">
                <a:moveTo>
                  <a:pt x="0" y="0"/>
                </a:moveTo>
                <a:lnTo>
                  <a:pt x="35052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49" name="TextBox 49"/>
          <p:cNvSpPr txBox="1"/>
          <p:nvPr/>
        </p:nvSpPr>
        <p:spPr>
          <a:xfrm>
            <a:off x="8141970" y="2474595"/>
            <a:ext cx="57492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年龄分布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142922" y="2787491"/>
            <a:ext cx="4788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18-24 岁</a:t>
            </a:r>
          </a:p>
        </p:txBody>
      </p:sp>
      <p:sp>
        <p:nvSpPr>
          <p:cNvPr id="51" name="Rectangle 51"/>
          <p:cNvSpPr/>
          <p:nvPr/>
        </p:nvSpPr>
        <p:spPr>
          <a:xfrm>
            <a:off x="8763000" y="2762250"/>
            <a:ext cx="2857500" cy="171450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11667172" y="2806541"/>
            <a:ext cx="22970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40%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142922" y="3073241"/>
            <a:ext cx="50894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25-30 岁</a:t>
            </a:r>
          </a:p>
        </p:txBody>
      </p:sp>
      <p:sp>
        <p:nvSpPr>
          <p:cNvPr id="54" name="Rectangle 54"/>
          <p:cNvSpPr/>
          <p:nvPr/>
        </p:nvSpPr>
        <p:spPr>
          <a:xfrm>
            <a:off x="8763000" y="3048000"/>
            <a:ext cx="2286000" cy="171450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55" name="TextBox 55"/>
          <p:cNvSpPr txBox="1"/>
          <p:nvPr/>
        </p:nvSpPr>
        <p:spPr>
          <a:xfrm>
            <a:off x="11095672" y="3092291"/>
            <a:ext cx="22970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32%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142922" y="3358991"/>
            <a:ext cx="47882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31-35 岁</a:t>
            </a:r>
          </a:p>
        </p:txBody>
      </p:sp>
      <p:sp>
        <p:nvSpPr>
          <p:cNvPr id="57" name="Rectangle 57"/>
          <p:cNvSpPr/>
          <p:nvPr/>
        </p:nvSpPr>
        <p:spPr>
          <a:xfrm>
            <a:off x="8763000" y="3333750"/>
            <a:ext cx="1071562" cy="171450"/>
          </a:xfrm>
          <a:prstGeom prst="rect">
            <a:avLst/>
          </a:prstGeom>
          <a:solidFill>
            <a:srgbClr val="91CAFF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9881235" y="3378041"/>
            <a:ext cx="19807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15%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8142922" y="3644741"/>
            <a:ext cx="55111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35 岁以上</a:t>
            </a:r>
          </a:p>
        </p:txBody>
      </p:sp>
      <p:sp>
        <p:nvSpPr>
          <p:cNvPr id="60" name="Rectangle 60"/>
          <p:cNvSpPr/>
          <p:nvPr/>
        </p:nvSpPr>
        <p:spPr>
          <a:xfrm>
            <a:off x="8763000" y="3619500"/>
            <a:ext cx="928688" cy="171450"/>
          </a:xfrm>
          <a:prstGeom prst="rect">
            <a:avLst/>
          </a:prstGeom>
          <a:solidFill>
            <a:srgbClr val="91CAFF"/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9738360" y="3663791"/>
            <a:ext cx="19807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13%</a:t>
            </a:r>
          </a:p>
        </p:txBody>
      </p:sp>
      <p:sp>
        <p:nvSpPr>
          <p:cNvPr id="62" name="Line 62"/>
          <p:cNvSpPr/>
          <p:nvPr/>
        </p:nvSpPr>
        <p:spPr>
          <a:xfrm>
            <a:off x="8153400" y="4095750"/>
            <a:ext cx="3505200" cy="9525"/>
          </a:xfrm>
          <a:custGeom>
            <a:avLst/>
            <a:gdLst/>
            <a:ahLst/>
            <a:cxnLst/>
            <a:rect l="l" t="t" r="r" b="b"/>
            <a:pathLst>
              <a:path w="3505200" h="9525">
                <a:moveTo>
                  <a:pt x="0" y="0"/>
                </a:moveTo>
                <a:lnTo>
                  <a:pt x="35052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63" name="TextBox 63"/>
          <p:cNvSpPr txBox="1"/>
          <p:nvPr/>
        </p:nvSpPr>
        <p:spPr>
          <a:xfrm>
            <a:off x="8141970" y="4236720"/>
            <a:ext cx="71294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身份与地域</a:t>
            </a:r>
          </a:p>
        </p:txBody>
      </p:sp>
      <p:sp>
        <p:nvSpPr>
          <p:cNvPr id="64" name="Rectangle 64"/>
          <p:cNvSpPr/>
          <p:nvPr/>
        </p:nvSpPr>
        <p:spPr>
          <a:xfrm>
            <a:off x="8153400" y="4562475"/>
            <a:ext cx="28575" cy="133350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8237220" y="4560570"/>
            <a:ext cx="14884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高校学生 + 都市白领为主</a:t>
            </a:r>
          </a:p>
        </p:txBody>
      </p:sp>
      <p:sp>
        <p:nvSpPr>
          <p:cNvPr id="66" name="Rectangle 66"/>
          <p:cNvSpPr/>
          <p:nvPr/>
        </p:nvSpPr>
        <p:spPr>
          <a:xfrm>
            <a:off x="8153400" y="4791075"/>
            <a:ext cx="28575" cy="133350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8237220" y="4789170"/>
            <a:ext cx="17316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集中于城市商圈、大学城周边</a:t>
            </a:r>
          </a:p>
        </p:txBody>
      </p:sp>
      <p:sp>
        <p:nvSpPr>
          <p:cNvPr id="68" name="Rectangle 68"/>
          <p:cNvSpPr/>
          <p:nvPr/>
        </p:nvSpPr>
        <p:spPr>
          <a:xfrm>
            <a:off x="8153400" y="5019675"/>
            <a:ext cx="28575" cy="133350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69" name="TextBox 69"/>
          <p:cNvSpPr txBox="1"/>
          <p:nvPr/>
        </p:nvSpPr>
        <p:spPr>
          <a:xfrm>
            <a:off x="8237220" y="5017770"/>
            <a:ext cx="12124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18-35 岁占 70% 以上</a:t>
            </a:r>
          </a:p>
        </p:txBody>
      </p:sp>
      <p:sp>
        <p:nvSpPr>
          <p:cNvPr id="70" name="Rectangle 70"/>
          <p:cNvSpPr/>
          <p:nvPr/>
        </p:nvSpPr>
        <p:spPr>
          <a:xfrm>
            <a:off x="8153400" y="5429250"/>
            <a:ext cx="3505200" cy="438150"/>
          </a:xfrm>
          <a:prstGeom prst="rect">
            <a:avLst/>
          </a:prstGeom>
          <a:solidFill>
            <a:srgbClr val="E8F0FA"/>
          </a:solidFill>
          <a:ln w="4762">
            <a:solidFill>
              <a:srgbClr val="1677FF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8294370" y="5598795"/>
            <a:ext cx="13373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女性比例近年持续上升</a:t>
            </a:r>
          </a:p>
        </p:txBody>
      </p:sp>
      <p:sp>
        <p:nvSpPr>
          <p:cNvPr id="72" name="Line 72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73" name="TextBox 73"/>
          <p:cNvSpPr txBox="1"/>
          <p:nvPr/>
        </p:nvSpPr>
        <p:spPr>
          <a:xfrm>
            <a:off x="365760" y="6614160"/>
            <a:ext cx="619963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来源：华经产业研究院《2025年中国桌游行业发展现状及趋势分析》 · 2026-06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1401425" y="6614160"/>
            <a:ext cx="4248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65760" y="80010"/>
            <a:ext cx="143256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二、游戏与信息流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44200" y="80010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桌游调研报告</a:t>
            </a:r>
          </a:p>
        </p:txBody>
      </p:sp>
      <p:sp>
        <p:nvSpPr>
          <p:cNvPr id="5" name="Line 5"/>
          <p:cNvSpPr/>
          <p:nvPr/>
        </p:nvSpPr>
        <p:spPr>
          <a:xfrm>
            <a:off x="381000" y="2857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381000" y="342900"/>
            <a:ext cx="28575" cy="495300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80060" y="537210"/>
            <a:ext cx="405269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规则教学环节信息保真度不足 30%，是最大交互瓶颈</a:t>
            </a:r>
          </a:p>
        </p:txBody>
      </p:sp>
      <p:sp>
        <p:nvSpPr>
          <p:cNvPr id="8" name="Line 8"/>
          <p:cNvSpPr/>
          <p:nvPr/>
        </p:nvSpPr>
        <p:spPr>
          <a:xfrm>
            <a:off x="381000" y="8953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381000" y="952500"/>
            <a:ext cx="6858000" cy="238125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520065" y="1105852"/>
            <a:ext cx="131483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三种教学路径对比</a:t>
            </a:r>
          </a:p>
        </p:txBody>
      </p:sp>
      <p:sp>
        <p:nvSpPr>
          <p:cNvPr id="11" name="Line 11"/>
          <p:cNvSpPr/>
          <p:nvPr/>
        </p:nvSpPr>
        <p:spPr>
          <a:xfrm>
            <a:off x="1143000" y="1428750"/>
            <a:ext cx="9525" cy="1619250"/>
          </a:xfrm>
          <a:custGeom>
            <a:avLst/>
            <a:gdLst/>
            <a:ahLst/>
            <a:cxnLst/>
            <a:rect l="l" t="t" r="r" b="b"/>
            <a:pathLst>
              <a:path w="9525" h="1619250">
                <a:moveTo>
                  <a:pt x="0" y="0"/>
                </a:moveTo>
                <a:lnTo>
                  <a:pt x="0" y="1619250"/>
                </a:lnTo>
              </a:path>
            </a:pathLst>
          </a:custGeom>
          <a:noFill/>
          <a:ln w="4762">
            <a:solidFill>
              <a:srgbClr val="888888"/>
            </a:solidFill>
          </a:ln>
        </p:spPr>
      </p:sp>
      <p:sp>
        <p:nvSpPr>
          <p:cNvPr id="12" name="Line 12"/>
          <p:cNvSpPr/>
          <p:nvPr/>
        </p:nvSpPr>
        <p:spPr>
          <a:xfrm>
            <a:off x="1143000" y="3048000"/>
            <a:ext cx="5905500" cy="9525"/>
          </a:xfrm>
          <a:custGeom>
            <a:avLst/>
            <a:gdLst/>
            <a:ahLst/>
            <a:cxnLst/>
            <a:rect l="l" t="t" r="r" b="b"/>
            <a:pathLst>
              <a:path w="5905500" h="9525">
                <a:moveTo>
                  <a:pt x="0" y="0"/>
                </a:moveTo>
                <a:lnTo>
                  <a:pt x="5905500" y="0"/>
                </a:lnTo>
              </a:path>
            </a:pathLst>
          </a:custGeom>
          <a:noFill/>
          <a:ln w="4762">
            <a:solidFill>
              <a:srgbClr val="888888"/>
            </a:solidFill>
          </a:ln>
        </p:spPr>
      </p:sp>
      <p:sp>
        <p:nvSpPr>
          <p:cNvPr id="13" name="Line 13"/>
          <p:cNvSpPr/>
          <p:nvPr/>
        </p:nvSpPr>
        <p:spPr>
          <a:xfrm>
            <a:off x="1143000" y="2724150"/>
            <a:ext cx="5905500" cy="9525"/>
          </a:xfrm>
          <a:custGeom>
            <a:avLst/>
            <a:gdLst/>
            <a:ahLst/>
            <a:cxnLst/>
            <a:rect l="l" t="t" r="r" b="b"/>
            <a:pathLst>
              <a:path w="5905500" h="9525">
                <a:moveTo>
                  <a:pt x="0" y="0"/>
                </a:moveTo>
                <a:lnTo>
                  <a:pt x="5905500" y="0"/>
                </a:lnTo>
              </a:path>
            </a:pathLst>
          </a:custGeom>
          <a:noFill/>
          <a:ln w="4762">
            <a:solidFill>
              <a:srgbClr val="E2E2E2"/>
            </a:solidFill>
            <a:prstDash val="sysDot"/>
          </a:ln>
        </p:spPr>
      </p:sp>
      <p:sp>
        <p:nvSpPr>
          <p:cNvPr id="14" name="TextBox 14"/>
          <p:cNvSpPr txBox="1"/>
          <p:nvPr/>
        </p:nvSpPr>
        <p:spPr>
          <a:xfrm>
            <a:off x="1043464" y="2681288"/>
            <a:ext cx="5191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1</a:t>
            </a:r>
          </a:p>
        </p:txBody>
      </p:sp>
      <p:sp>
        <p:nvSpPr>
          <p:cNvPr id="15" name="Line 15"/>
          <p:cNvSpPr/>
          <p:nvPr/>
        </p:nvSpPr>
        <p:spPr>
          <a:xfrm>
            <a:off x="1143000" y="2400300"/>
            <a:ext cx="5905500" cy="9525"/>
          </a:xfrm>
          <a:custGeom>
            <a:avLst/>
            <a:gdLst/>
            <a:ahLst/>
            <a:cxnLst/>
            <a:rect l="l" t="t" r="r" b="b"/>
            <a:pathLst>
              <a:path w="5905500" h="9525">
                <a:moveTo>
                  <a:pt x="0" y="0"/>
                </a:moveTo>
                <a:lnTo>
                  <a:pt x="5905500" y="0"/>
                </a:lnTo>
              </a:path>
            </a:pathLst>
          </a:custGeom>
          <a:noFill/>
          <a:ln w="4762">
            <a:solidFill>
              <a:srgbClr val="E2E2E2"/>
            </a:solidFill>
            <a:prstDash val="sysDot"/>
          </a:ln>
        </p:spPr>
      </p:sp>
      <p:sp>
        <p:nvSpPr>
          <p:cNvPr id="16" name="TextBox 16"/>
          <p:cNvSpPr txBox="1"/>
          <p:nvPr/>
        </p:nvSpPr>
        <p:spPr>
          <a:xfrm>
            <a:off x="1016079" y="2357438"/>
            <a:ext cx="792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2</a:t>
            </a:r>
          </a:p>
        </p:txBody>
      </p:sp>
      <p:sp>
        <p:nvSpPr>
          <p:cNvPr id="17" name="Line 17"/>
          <p:cNvSpPr/>
          <p:nvPr/>
        </p:nvSpPr>
        <p:spPr>
          <a:xfrm>
            <a:off x="1143000" y="2076450"/>
            <a:ext cx="5905500" cy="9525"/>
          </a:xfrm>
          <a:custGeom>
            <a:avLst/>
            <a:gdLst/>
            <a:ahLst/>
            <a:cxnLst/>
            <a:rect l="l" t="t" r="r" b="b"/>
            <a:pathLst>
              <a:path w="5905500" h="9525">
                <a:moveTo>
                  <a:pt x="0" y="0"/>
                </a:moveTo>
                <a:lnTo>
                  <a:pt x="5905500" y="0"/>
                </a:lnTo>
              </a:path>
            </a:pathLst>
          </a:custGeom>
          <a:noFill/>
          <a:ln w="4762">
            <a:solidFill>
              <a:srgbClr val="E2E2E2"/>
            </a:solidFill>
            <a:prstDash val="sysDot"/>
          </a:ln>
        </p:spPr>
      </p:sp>
      <p:sp>
        <p:nvSpPr>
          <p:cNvPr id="18" name="TextBox 18"/>
          <p:cNvSpPr txBox="1"/>
          <p:nvPr/>
        </p:nvSpPr>
        <p:spPr>
          <a:xfrm>
            <a:off x="1016079" y="2033588"/>
            <a:ext cx="792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3</a:t>
            </a:r>
          </a:p>
        </p:txBody>
      </p:sp>
      <p:sp>
        <p:nvSpPr>
          <p:cNvPr id="19" name="Line 19"/>
          <p:cNvSpPr/>
          <p:nvPr/>
        </p:nvSpPr>
        <p:spPr>
          <a:xfrm>
            <a:off x="1143000" y="1752600"/>
            <a:ext cx="5905500" cy="9525"/>
          </a:xfrm>
          <a:custGeom>
            <a:avLst/>
            <a:gdLst/>
            <a:ahLst/>
            <a:cxnLst/>
            <a:rect l="l" t="t" r="r" b="b"/>
            <a:pathLst>
              <a:path w="5905500" h="9525">
                <a:moveTo>
                  <a:pt x="0" y="0"/>
                </a:moveTo>
                <a:lnTo>
                  <a:pt x="5905500" y="0"/>
                </a:lnTo>
              </a:path>
            </a:pathLst>
          </a:custGeom>
          <a:noFill/>
          <a:ln w="4762">
            <a:solidFill>
              <a:srgbClr val="E2E2E2"/>
            </a:solidFill>
            <a:prstDash val="sysDot"/>
          </a:ln>
        </p:spPr>
      </p:sp>
      <p:sp>
        <p:nvSpPr>
          <p:cNvPr id="20" name="TextBox 20"/>
          <p:cNvSpPr txBox="1"/>
          <p:nvPr/>
        </p:nvSpPr>
        <p:spPr>
          <a:xfrm>
            <a:off x="1016079" y="1709738"/>
            <a:ext cx="792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4</a:t>
            </a:r>
          </a:p>
        </p:txBody>
      </p:sp>
      <p:sp>
        <p:nvSpPr>
          <p:cNvPr id="21" name="Line 21"/>
          <p:cNvSpPr/>
          <p:nvPr/>
        </p:nvSpPr>
        <p:spPr>
          <a:xfrm>
            <a:off x="1143000" y="1428750"/>
            <a:ext cx="5905500" cy="9525"/>
          </a:xfrm>
          <a:custGeom>
            <a:avLst/>
            <a:gdLst/>
            <a:ahLst/>
            <a:cxnLst/>
            <a:rect l="l" t="t" r="r" b="b"/>
            <a:pathLst>
              <a:path w="5905500" h="9525">
                <a:moveTo>
                  <a:pt x="0" y="0"/>
                </a:moveTo>
                <a:lnTo>
                  <a:pt x="5905500" y="0"/>
                </a:lnTo>
              </a:path>
            </a:pathLst>
          </a:custGeom>
          <a:noFill/>
          <a:ln w="4762">
            <a:solidFill>
              <a:srgbClr val="E2E2E2"/>
            </a:solidFill>
            <a:prstDash val="sysDot"/>
          </a:ln>
        </p:spPr>
      </p:sp>
      <p:sp>
        <p:nvSpPr>
          <p:cNvPr id="22" name="TextBox 22"/>
          <p:cNvSpPr txBox="1"/>
          <p:nvPr/>
        </p:nvSpPr>
        <p:spPr>
          <a:xfrm>
            <a:off x="1016079" y="1385888"/>
            <a:ext cx="7929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75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5</a:t>
            </a:r>
          </a:p>
        </p:txBody>
      </p:sp>
      <p:sp>
        <p:nvSpPr>
          <p:cNvPr id="23" name="Rectangle 23"/>
          <p:cNvSpPr/>
          <p:nvPr/>
        </p:nvSpPr>
        <p:spPr>
          <a:xfrm>
            <a:off x="1339850" y="1752600"/>
            <a:ext cx="177800" cy="1295400"/>
          </a:xfrm>
          <a:prstGeom prst="rect">
            <a:avLst/>
          </a:prstGeom>
          <a:solidFill>
            <a:srgbClr val="1677FF">
              <a:alpha val="85000"/>
            </a:srgbClr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1536700" y="2724150"/>
            <a:ext cx="177800" cy="323850"/>
          </a:xfrm>
          <a:prstGeom prst="rect">
            <a:avLst/>
          </a:prstGeom>
          <a:solidFill>
            <a:srgbClr val="4096FF">
              <a:alpha val="85000"/>
            </a:srgbClr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1733550" y="2076450"/>
            <a:ext cx="177800" cy="971550"/>
          </a:xfrm>
          <a:prstGeom prst="rect">
            <a:avLst/>
          </a:prstGeom>
          <a:solidFill>
            <a:srgbClr val="91CAFF">
              <a:alpha val="85000"/>
            </a:srgbClr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1603375" y="3119438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启动速度</a:t>
            </a:r>
          </a:p>
        </p:txBody>
      </p:sp>
      <p:sp>
        <p:nvSpPr>
          <p:cNvPr id="27" name="Rectangle 27"/>
          <p:cNvSpPr/>
          <p:nvPr/>
        </p:nvSpPr>
        <p:spPr>
          <a:xfrm>
            <a:off x="2324100" y="2076450"/>
            <a:ext cx="177800" cy="971550"/>
          </a:xfrm>
          <a:prstGeom prst="rect">
            <a:avLst/>
          </a:prstGeom>
          <a:solidFill>
            <a:srgbClr val="1677FF">
              <a:alpha val="85000"/>
            </a:srgbClr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2520950" y="1428750"/>
            <a:ext cx="177800" cy="1619250"/>
          </a:xfrm>
          <a:prstGeom prst="rect">
            <a:avLst/>
          </a:prstGeom>
          <a:solidFill>
            <a:srgbClr val="4096FF">
              <a:alpha val="85000"/>
            </a:srgbClr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2717800" y="1752600"/>
            <a:ext cx="177800" cy="1295400"/>
          </a:xfrm>
          <a:prstGeom prst="rect">
            <a:avLst/>
          </a:prstGeom>
          <a:solidFill>
            <a:srgbClr val="91CAFF">
              <a:alpha val="85000"/>
            </a:srgbClr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2532856" y="3119438"/>
            <a:ext cx="56673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信息准确性</a:t>
            </a:r>
          </a:p>
        </p:txBody>
      </p:sp>
      <p:sp>
        <p:nvSpPr>
          <p:cNvPr id="31" name="Rectangle 31"/>
          <p:cNvSpPr/>
          <p:nvPr/>
        </p:nvSpPr>
        <p:spPr>
          <a:xfrm>
            <a:off x="3308350" y="1428750"/>
            <a:ext cx="177800" cy="1619250"/>
          </a:xfrm>
          <a:prstGeom prst="rect">
            <a:avLst/>
          </a:prstGeom>
          <a:solidFill>
            <a:srgbClr val="1677FF">
              <a:alpha val="85000"/>
            </a:srgbClr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3505200" y="2724150"/>
            <a:ext cx="177800" cy="323850"/>
          </a:xfrm>
          <a:prstGeom prst="rect">
            <a:avLst/>
          </a:prstGeom>
          <a:solidFill>
            <a:srgbClr val="4096FF">
              <a:alpha val="85000"/>
            </a:srgbClr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3702050" y="2400300"/>
            <a:ext cx="177800" cy="647700"/>
          </a:xfrm>
          <a:prstGeom prst="rect">
            <a:avLst/>
          </a:prstGeom>
          <a:solidFill>
            <a:srgbClr val="91CAFF">
              <a:alpha val="85000"/>
            </a:srgbClr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3571875" y="3119438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互动反馈</a:t>
            </a:r>
          </a:p>
        </p:txBody>
      </p:sp>
      <p:sp>
        <p:nvSpPr>
          <p:cNvPr id="35" name="Rectangle 35"/>
          <p:cNvSpPr/>
          <p:nvPr/>
        </p:nvSpPr>
        <p:spPr>
          <a:xfrm>
            <a:off x="4292600" y="2400300"/>
            <a:ext cx="177800" cy="647700"/>
          </a:xfrm>
          <a:prstGeom prst="rect">
            <a:avLst/>
          </a:prstGeom>
          <a:solidFill>
            <a:srgbClr val="1677FF">
              <a:alpha val="85000"/>
            </a:srgbClr>
          </a:solidFill>
          <a:ln>
            <a:noFill/>
          </a:ln>
        </p:spPr>
      </p:sp>
      <p:sp>
        <p:nvSpPr>
          <p:cNvPr id="36" name="Rectangle 36"/>
          <p:cNvSpPr/>
          <p:nvPr/>
        </p:nvSpPr>
        <p:spPr>
          <a:xfrm>
            <a:off x="4489450" y="1428750"/>
            <a:ext cx="177800" cy="1619250"/>
          </a:xfrm>
          <a:prstGeom prst="rect">
            <a:avLst/>
          </a:prstGeom>
          <a:solidFill>
            <a:srgbClr val="4096FF">
              <a:alpha val="85000"/>
            </a:srgbClr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4686300" y="1428750"/>
            <a:ext cx="177800" cy="1619250"/>
          </a:xfrm>
          <a:prstGeom prst="rect">
            <a:avLst/>
          </a:prstGeom>
          <a:solidFill>
            <a:srgbClr val="91CAFF">
              <a:alpha val="85000"/>
            </a:srgbClr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4610894" y="3119438"/>
            <a:ext cx="347662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一致性</a:t>
            </a:r>
          </a:p>
        </p:txBody>
      </p:sp>
      <p:sp>
        <p:nvSpPr>
          <p:cNvPr id="39" name="Rectangle 39"/>
          <p:cNvSpPr/>
          <p:nvPr/>
        </p:nvSpPr>
        <p:spPr>
          <a:xfrm>
            <a:off x="5276850" y="2400300"/>
            <a:ext cx="177800" cy="647700"/>
          </a:xfrm>
          <a:prstGeom prst="rect">
            <a:avLst/>
          </a:prstGeom>
          <a:solidFill>
            <a:srgbClr val="1677FF">
              <a:alpha val="85000"/>
            </a:srgbClr>
          </a:solidFill>
          <a:ln>
            <a:noFill/>
          </a:ln>
        </p:spPr>
      </p:sp>
      <p:sp>
        <p:nvSpPr>
          <p:cNvPr id="40" name="Rectangle 40"/>
          <p:cNvSpPr/>
          <p:nvPr/>
        </p:nvSpPr>
        <p:spPr>
          <a:xfrm>
            <a:off x="5473700" y="1428750"/>
            <a:ext cx="177800" cy="1619250"/>
          </a:xfrm>
          <a:prstGeom prst="rect">
            <a:avLst/>
          </a:prstGeom>
          <a:solidFill>
            <a:srgbClr val="4096FF">
              <a:alpha val="85000"/>
            </a:srgbClr>
          </a:solidFill>
          <a:ln>
            <a:noFill/>
          </a:ln>
        </p:spPr>
      </p:sp>
      <p:sp>
        <p:nvSpPr>
          <p:cNvPr id="41" name="Rectangle 41"/>
          <p:cNvSpPr/>
          <p:nvPr/>
        </p:nvSpPr>
        <p:spPr>
          <a:xfrm>
            <a:off x="5670550" y="1752600"/>
            <a:ext cx="177800" cy="1295400"/>
          </a:xfrm>
          <a:prstGeom prst="rect">
            <a:avLst/>
          </a:prstGeom>
          <a:solidFill>
            <a:srgbClr val="91CAFF">
              <a:alpha val="85000"/>
            </a:srgbClr>
          </a:solidFill>
          <a:ln>
            <a:noFill/>
          </a:ln>
        </p:spPr>
      </p:sp>
      <p:sp>
        <p:nvSpPr>
          <p:cNvPr id="42" name="TextBox 42"/>
          <p:cNvSpPr txBox="1"/>
          <p:nvPr/>
        </p:nvSpPr>
        <p:spPr>
          <a:xfrm>
            <a:off x="5534898" y="3119438"/>
            <a:ext cx="468154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成本(低)</a:t>
            </a:r>
          </a:p>
        </p:txBody>
      </p:sp>
      <p:sp>
        <p:nvSpPr>
          <p:cNvPr id="43" name="Rectangle 43"/>
          <p:cNvSpPr/>
          <p:nvPr/>
        </p:nvSpPr>
        <p:spPr>
          <a:xfrm>
            <a:off x="6261100" y="2076450"/>
            <a:ext cx="177800" cy="971550"/>
          </a:xfrm>
          <a:prstGeom prst="rect">
            <a:avLst/>
          </a:prstGeom>
          <a:solidFill>
            <a:srgbClr val="1677FF">
              <a:alpha val="85000"/>
            </a:srgbClr>
          </a:solidFill>
          <a:ln>
            <a:noFill/>
          </a:ln>
        </p:spPr>
      </p:sp>
      <p:sp>
        <p:nvSpPr>
          <p:cNvPr id="44" name="Rectangle 44"/>
          <p:cNvSpPr/>
          <p:nvPr/>
        </p:nvSpPr>
        <p:spPr>
          <a:xfrm>
            <a:off x="6457950" y="2400300"/>
            <a:ext cx="177800" cy="647700"/>
          </a:xfrm>
          <a:prstGeom prst="rect">
            <a:avLst/>
          </a:prstGeom>
          <a:solidFill>
            <a:srgbClr val="4096FF">
              <a:alpha val="85000"/>
            </a:srgbClr>
          </a:solidFill>
          <a:ln>
            <a:noFill/>
          </a:ln>
        </p:spPr>
      </p:sp>
      <p:sp>
        <p:nvSpPr>
          <p:cNvPr id="45" name="Rectangle 45"/>
          <p:cNvSpPr/>
          <p:nvPr/>
        </p:nvSpPr>
        <p:spPr>
          <a:xfrm>
            <a:off x="6654800" y="1428750"/>
            <a:ext cx="177800" cy="1619250"/>
          </a:xfrm>
          <a:prstGeom prst="rect">
            <a:avLst/>
          </a:prstGeom>
          <a:solidFill>
            <a:srgbClr val="91CAFF">
              <a:alpha val="85000"/>
            </a:srgbClr>
          </a:solidFill>
          <a:ln>
            <a:noFill/>
          </a:ln>
        </p:spPr>
      </p:sp>
      <p:sp>
        <p:nvSpPr>
          <p:cNvPr id="46" name="TextBox 46"/>
          <p:cNvSpPr txBox="1"/>
          <p:nvPr/>
        </p:nvSpPr>
        <p:spPr>
          <a:xfrm>
            <a:off x="6409611" y="3119438"/>
            <a:ext cx="687229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75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认知负荷(低)</a:t>
            </a:r>
          </a:p>
        </p:txBody>
      </p:sp>
      <p:sp>
        <p:nvSpPr>
          <p:cNvPr id="47" name="Rectangle 47"/>
          <p:cNvSpPr/>
          <p:nvPr/>
        </p:nvSpPr>
        <p:spPr>
          <a:xfrm>
            <a:off x="571500" y="3429000"/>
            <a:ext cx="114300" cy="114300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48" name="TextBox 48"/>
          <p:cNvSpPr txBox="1"/>
          <p:nvPr/>
        </p:nvSpPr>
        <p:spPr>
          <a:xfrm>
            <a:off x="732472" y="3444716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店员教学</a:t>
            </a:r>
          </a:p>
        </p:txBody>
      </p:sp>
      <p:sp>
        <p:nvSpPr>
          <p:cNvPr id="49" name="Rectangle 49"/>
          <p:cNvSpPr/>
          <p:nvPr/>
        </p:nvSpPr>
        <p:spPr>
          <a:xfrm>
            <a:off x="1714500" y="3429000"/>
            <a:ext cx="114300" cy="114300"/>
          </a:xfrm>
          <a:prstGeom prst="rect">
            <a:avLst/>
          </a:prstGeom>
          <a:solidFill>
            <a:srgbClr val="4096FF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1875472" y="3444716"/>
            <a:ext cx="382429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规则书</a:t>
            </a:r>
          </a:p>
        </p:txBody>
      </p:sp>
      <p:sp>
        <p:nvSpPr>
          <p:cNvPr id="51" name="Rectangle 51"/>
          <p:cNvSpPr/>
          <p:nvPr/>
        </p:nvSpPr>
        <p:spPr>
          <a:xfrm>
            <a:off x="2857500" y="3429000"/>
            <a:ext cx="114300" cy="114300"/>
          </a:xfrm>
          <a:prstGeom prst="rect">
            <a:avLst/>
          </a:prstGeom>
          <a:solidFill>
            <a:srgbClr val="91CAFF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3018472" y="3444716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视频教学</a:t>
            </a:r>
          </a:p>
        </p:txBody>
      </p:sp>
      <p:sp>
        <p:nvSpPr>
          <p:cNvPr id="53" name="Rectangle 53"/>
          <p:cNvSpPr/>
          <p:nvPr/>
        </p:nvSpPr>
        <p:spPr>
          <a:xfrm>
            <a:off x="381000" y="3619500"/>
            <a:ext cx="11430000" cy="26670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520065" y="3772852"/>
            <a:ext cx="229705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信息衰减链路 — 保真度不到 30%</a:t>
            </a:r>
          </a:p>
        </p:txBody>
      </p:sp>
      <p:sp>
        <p:nvSpPr>
          <p:cNvPr id="55" name="Rectangle 55"/>
          <p:cNvSpPr/>
          <p:nvPr/>
        </p:nvSpPr>
        <p:spPr>
          <a:xfrm>
            <a:off x="666750" y="4381500"/>
            <a:ext cx="1047750" cy="666750"/>
          </a:xfrm>
          <a:prstGeom prst="rect">
            <a:avLst/>
          </a:prstGeom>
          <a:solidFill>
            <a:srgbClr val="1677FF">
              <a:alpha val="80000"/>
            </a:srgbClr>
          </a:solidFill>
          <a:ln>
            <a:noFill/>
          </a:ln>
        </p:spPr>
      </p:sp>
      <p:sp>
        <p:nvSpPr>
          <p:cNvPr id="56" name="Rectangle 56"/>
          <p:cNvSpPr/>
          <p:nvPr/>
        </p:nvSpPr>
        <p:spPr>
          <a:xfrm>
            <a:off x="666750" y="4381500"/>
            <a:ext cx="1047750" cy="28575"/>
          </a:xfrm>
          <a:prstGeom prst="rect">
            <a:avLst/>
          </a:prstGeom>
          <a:solidFill>
            <a:srgbClr val="1677FF">
              <a:alpha val="80000"/>
            </a:srgbClr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972169" y="4570095"/>
            <a:ext cx="43691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设计师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041178" y="4779645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意图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062669" y="5130641"/>
            <a:ext cx="2559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100%</a:t>
            </a:r>
          </a:p>
        </p:txBody>
      </p:sp>
      <p:sp>
        <p:nvSpPr>
          <p:cNvPr id="60" name="Line 60"/>
          <p:cNvSpPr/>
          <p:nvPr/>
        </p:nvSpPr>
        <p:spPr>
          <a:xfrm>
            <a:off x="1733550" y="4714875"/>
            <a:ext cx="95250" cy="9525"/>
          </a:xfrm>
          <a:custGeom>
            <a:avLst/>
            <a:gdLst/>
            <a:ahLst/>
            <a:cxnLst/>
            <a:rect l="l" t="t" r="r" b="b"/>
            <a:pathLst>
              <a:path w="95250" h="9525">
                <a:moveTo>
                  <a:pt x="0" y="0"/>
                </a:moveTo>
                <a:lnTo>
                  <a:pt x="95250" y="0"/>
                </a:lnTo>
              </a:path>
            </a:pathLst>
          </a:custGeom>
          <a:noFill/>
          <a:ln w="14288">
            <a:solidFill>
              <a:srgbClr val="E2E2E2"/>
            </a:solidFill>
          </a:ln>
        </p:spPr>
      </p:sp>
      <p:sp>
        <p:nvSpPr>
          <p:cNvPr id="61" name="Polygon 61"/>
          <p:cNvSpPr/>
          <p:nvPr/>
        </p:nvSpPr>
        <p:spPr>
          <a:xfrm>
            <a:off x="1828800" y="4667250"/>
            <a:ext cx="38100" cy="95250"/>
          </a:xfrm>
          <a:custGeom>
            <a:avLst/>
            <a:gdLst/>
            <a:ahLst/>
            <a:cxnLst/>
            <a:rect l="l" t="t" r="r" b="b"/>
            <a:pathLst>
              <a:path w="38100" h="95250">
                <a:moveTo>
                  <a:pt x="0" y="0"/>
                </a:moveTo>
                <a:lnTo>
                  <a:pt x="3810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E2E2E2"/>
          </a:solidFill>
          <a:ln>
            <a:noFill/>
          </a:ln>
        </p:spPr>
      </p:sp>
      <p:sp>
        <p:nvSpPr>
          <p:cNvPr id="62" name="Rectangle 62"/>
          <p:cNvSpPr/>
          <p:nvPr/>
        </p:nvSpPr>
        <p:spPr>
          <a:xfrm>
            <a:off x="1866900" y="4381500"/>
            <a:ext cx="1047750" cy="666750"/>
          </a:xfrm>
          <a:prstGeom prst="rect">
            <a:avLst/>
          </a:prstGeom>
          <a:solidFill>
            <a:srgbClr val="1677FF">
              <a:alpha val="70000"/>
            </a:srgbClr>
          </a:solidFill>
          <a:ln>
            <a:noFill/>
          </a:ln>
        </p:spPr>
      </p:sp>
      <p:sp>
        <p:nvSpPr>
          <p:cNvPr id="63" name="Rectangle 63"/>
          <p:cNvSpPr/>
          <p:nvPr/>
        </p:nvSpPr>
        <p:spPr>
          <a:xfrm>
            <a:off x="1866900" y="4381500"/>
            <a:ext cx="1047750" cy="28575"/>
          </a:xfrm>
          <a:prstGeom prst="rect">
            <a:avLst/>
          </a:prstGeom>
          <a:solidFill>
            <a:srgbClr val="1677FF">
              <a:alpha val="70000"/>
            </a:srgbClr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2172319" y="4570095"/>
            <a:ext cx="43691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规则书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2241328" y="4779645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文字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2280892" y="5130641"/>
            <a:ext cx="2197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85%</a:t>
            </a:r>
          </a:p>
        </p:txBody>
      </p:sp>
      <p:sp>
        <p:nvSpPr>
          <p:cNvPr id="67" name="Line 67"/>
          <p:cNvSpPr/>
          <p:nvPr/>
        </p:nvSpPr>
        <p:spPr>
          <a:xfrm>
            <a:off x="2933700" y="4714875"/>
            <a:ext cx="95250" cy="9525"/>
          </a:xfrm>
          <a:custGeom>
            <a:avLst/>
            <a:gdLst/>
            <a:ahLst/>
            <a:cxnLst/>
            <a:rect l="l" t="t" r="r" b="b"/>
            <a:pathLst>
              <a:path w="95250" h="9525">
                <a:moveTo>
                  <a:pt x="0" y="0"/>
                </a:moveTo>
                <a:lnTo>
                  <a:pt x="95250" y="0"/>
                </a:lnTo>
              </a:path>
            </a:pathLst>
          </a:custGeom>
          <a:noFill/>
          <a:ln w="14288">
            <a:solidFill>
              <a:srgbClr val="E2E2E2"/>
            </a:solidFill>
          </a:ln>
        </p:spPr>
      </p:sp>
      <p:sp>
        <p:nvSpPr>
          <p:cNvPr id="68" name="Polygon 68"/>
          <p:cNvSpPr/>
          <p:nvPr/>
        </p:nvSpPr>
        <p:spPr>
          <a:xfrm>
            <a:off x="3028950" y="4667250"/>
            <a:ext cx="38100" cy="95250"/>
          </a:xfrm>
          <a:custGeom>
            <a:avLst/>
            <a:gdLst/>
            <a:ahLst/>
            <a:cxnLst/>
            <a:rect l="l" t="t" r="r" b="b"/>
            <a:pathLst>
              <a:path w="38100" h="95250">
                <a:moveTo>
                  <a:pt x="0" y="0"/>
                </a:moveTo>
                <a:lnTo>
                  <a:pt x="3810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E2E2E2"/>
          </a:solidFill>
          <a:ln>
            <a:noFill/>
          </a:ln>
        </p:spPr>
      </p:sp>
      <p:sp>
        <p:nvSpPr>
          <p:cNvPr id="69" name="Rectangle 69"/>
          <p:cNvSpPr/>
          <p:nvPr/>
        </p:nvSpPr>
        <p:spPr>
          <a:xfrm>
            <a:off x="3067050" y="4381500"/>
            <a:ext cx="1047750" cy="666750"/>
          </a:xfrm>
          <a:prstGeom prst="rect">
            <a:avLst/>
          </a:prstGeom>
          <a:solidFill>
            <a:srgbClr val="1677FF">
              <a:alpha val="60000"/>
            </a:srgbClr>
          </a:solidFill>
          <a:ln>
            <a:noFill/>
          </a:ln>
        </p:spPr>
      </p:sp>
      <p:sp>
        <p:nvSpPr>
          <p:cNvPr id="70" name="Rectangle 70"/>
          <p:cNvSpPr/>
          <p:nvPr/>
        </p:nvSpPr>
        <p:spPr>
          <a:xfrm>
            <a:off x="3067050" y="4381500"/>
            <a:ext cx="1047750" cy="28575"/>
          </a:xfrm>
          <a:prstGeom prst="rect">
            <a:avLst/>
          </a:prstGeom>
          <a:solidFill>
            <a:srgbClr val="1677FF">
              <a:alpha val="60000"/>
            </a:srgbClr>
          </a:soli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3441478" y="4570095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店员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3441478" y="4779645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理解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3481042" y="5130641"/>
            <a:ext cx="2197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70%</a:t>
            </a:r>
          </a:p>
        </p:txBody>
      </p:sp>
      <p:sp>
        <p:nvSpPr>
          <p:cNvPr id="74" name="Line 74"/>
          <p:cNvSpPr/>
          <p:nvPr/>
        </p:nvSpPr>
        <p:spPr>
          <a:xfrm>
            <a:off x="4133850" y="4714875"/>
            <a:ext cx="95250" cy="9525"/>
          </a:xfrm>
          <a:custGeom>
            <a:avLst/>
            <a:gdLst/>
            <a:ahLst/>
            <a:cxnLst/>
            <a:rect l="l" t="t" r="r" b="b"/>
            <a:pathLst>
              <a:path w="95250" h="9525">
                <a:moveTo>
                  <a:pt x="0" y="0"/>
                </a:moveTo>
                <a:lnTo>
                  <a:pt x="95250" y="0"/>
                </a:lnTo>
              </a:path>
            </a:pathLst>
          </a:custGeom>
          <a:noFill/>
          <a:ln w="14288">
            <a:solidFill>
              <a:srgbClr val="E2E2E2"/>
            </a:solidFill>
          </a:ln>
        </p:spPr>
      </p:sp>
      <p:sp>
        <p:nvSpPr>
          <p:cNvPr id="75" name="Polygon 75"/>
          <p:cNvSpPr/>
          <p:nvPr/>
        </p:nvSpPr>
        <p:spPr>
          <a:xfrm>
            <a:off x="4229100" y="4667250"/>
            <a:ext cx="38100" cy="95250"/>
          </a:xfrm>
          <a:custGeom>
            <a:avLst/>
            <a:gdLst/>
            <a:ahLst/>
            <a:cxnLst/>
            <a:rect l="l" t="t" r="r" b="b"/>
            <a:pathLst>
              <a:path w="38100" h="95250">
                <a:moveTo>
                  <a:pt x="0" y="0"/>
                </a:moveTo>
                <a:lnTo>
                  <a:pt x="3810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E2E2E2"/>
          </a:solidFill>
          <a:ln>
            <a:noFill/>
          </a:ln>
        </p:spPr>
      </p:sp>
      <p:sp>
        <p:nvSpPr>
          <p:cNvPr id="76" name="Rectangle 76"/>
          <p:cNvSpPr/>
          <p:nvPr/>
        </p:nvSpPr>
        <p:spPr>
          <a:xfrm>
            <a:off x="4267200" y="4381500"/>
            <a:ext cx="1047750" cy="666750"/>
          </a:xfrm>
          <a:prstGeom prst="rect">
            <a:avLst/>
          </a:prstGeom>
          <a:solidFill>
            <a:srgbClr val="1677FF">
              <a:alpha val="60000"/>
            </a:srgbClr>
          </a:solidFill>
          <a:ln>
            <a:noFill/>
          </a:ln>
        </p:spPr>
      </p:sp>
      <p:sp>
        <p:nvSpPr>
          <p:cNvPr id="77" name="Rectangle 77"/>
          <p:cNvSpPr/>
          <p:nvPr/>
        </p:nvSpPr>
        <p:spPr>
          <a:xfrm>
            <a:off x="4267200" y="4381500"/>
            <a:ext cx="1047750" cy="28575"/>
          </a:xfrm>
          <a:prstGeom prst="rect">
            <a:avLst/>
          </a:prstGeom>
          <a:solidFill>
            <a:srgbClr val="1677FF">
              <a:alpha val="60000"/>
            </a:srgbClr>
          </a:solidFill>
          <a:ln>
            <a:noFill/>
          </a:ln>
        </p:spPr>
      </p:sp>
      <p:sp>
        <p:nvSpPr>
          <p:cNvPr id="78" name="TextBox 78"/>
          <p:cNvSpPr txBox="1"/>
          <p:nvPr/>
        </p:nvSpPr>
        <p:spPr>
          <a:xfrm>
            <a:off x="4641628" y="4570095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店员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4641628" y="4779645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表达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4681192" y="5130641"/>
            <a:ext cx="2197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55%</a:t>
            </a:r>
          </a:p>
        </p:txBody>
      </p:sp>
      <p:sp>
        <p:nvSpPr>
          <p:cNvPr id="81" name="Line 81"/>
          <p:cNvSpPr/>
          <p:nvPr/>
        </p:nvSpPr>
        <p:spPr>
          <a:xfrm>
            <a:off x="5334000" y="4714875"/>
            <a:ext cx="95250" cy="9525"/>
          </a:xfrm>
          <a:custGeom>
            <a:avLst/>
            <a:gdLst/>
            <a:ahLst/>
            <a:cxnLst/>
            <a:rect l="l" t="t" r="r" b="b"/>
            <a:pathLst>
              <a:path w="95250" h="9525">
                <a:moveTo>
                  <a:pt x="0" y="0"/>
                </a:moveTo>
                <a:lnTo>
                  <a:pt x="95250" y="0"/>
                </a:lnTo>
              </a:path>
            </a:pathLst>
          </a:custGeom>
          <a:noFill/>
          <a:ln w="14288">
            <a:solidFill>
              <a:srgbClr val="E2E2E2"/>
            </a:solidFill>
          </a:ln>
        </p:spPr>
      </p:sp>
      <p:sp>
        <p:nvSpPr>
          <p:cNvPr id="82" name="Polygon 82"/>
          <p:cNvSpPr/>
          <p:nvPr/>
        </p:nvSpPr>
        <p:spPr>
          <a:xfrm>
            <a:off x="5429250" y="4667250"/>
            <a:ext cx="38100" cy="95250"/>
          </a:xfrm>
          <a:custGeom>
            <a:avLst/>
            <a:gdLst/>
            <a:ahLst/>
            <a:cxnLst/>
            <a:rect l="l" t="t" r="r" b="b"/>
            <a:pathLst>
              <a:path w="38100" h="95250">
                <a:moveTo>
                  <a:pt x="0" y="0"/>
                </a:moveTo>
                <a:lnTo>
                  <a:pt x="3810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E2E2E2"/>
          </a:solidFill>
          <a:ln>
            <a:noFill/>
          </a:ln>
        </p:spPr>
      </p:sp>
      <p:sp>
        <p:nvSpPr>
          <p:cNvPr id="83" name="Rectangle 83"/>
          <p:cNvSpPr/>
          <p:nvPr/>
        </p:nvSpPr>
        <p:spPr>
          <a:xfrm>
            <a:off x="5467350" y="4381500"/>
            <a:ext cx="1047750" cy="666750"/>
          </a:xfrm>
          <a:prstGeom prst="rect">
            <a:avLst/>
          </a:prstGeom>
          <a:solidFill>
            <a:srgbClr val="1677FF">
              <a:alpha val="50000"/>
            </a:srgbClr>
          </a:solidFill>
          <a:ln>
            <a:noFill/>
          </a:ln>
        </p:spPr>
      </p:sp>
      <p:sp>
        <p:nvSpPr>
          <p:cNvPr id="84" name="Rectangle 84"/>
          <p:cNvSpPr/>
          <p:nvPr/>
        </p:nvSpPr>
        <p:spPr>
          <a:xfrm>
            <a:off x="5467350" y="4381500"/>
            <a:ext cx="1047750" cy="28575"/>
          </a:xfrm>
          <a:prstGeom prst="rect">
            <a:avLst/>
          </a:prstGeom>
          <a:solidFill>
            <a:srgbClr val="1677FF">
              <a:alpha val="50000"/>
            </a:srgbClr>
          </a:solidFill>
          <a:ln>
            <a:noFill/>
          </a:ln>
        </p:spPr>
      </p:sp>
      <p:sp>
        <p:nvSpPr>
          <p:cNvPr id="85" name="TextBox 85"/>
          <p:cNvSpPr txBox="1"/>
          <p:nvPr/>
        </p:nvSpPr>
        <p:spPr>
          <a:xfrm>
            <a:off x="5841778" y="4570095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玩家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5841778" y="4779645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理解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5881342" y="5130641"/>
            <a:ext cx="2197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40%</a:t>
            </a:r>
          </a:p>
        </p:txBody>
      </p:sp>
      <p:sp>
        <p:nvSpPr>
          <p:cNvPr id="88" name="Line 88"/>
          <p:cNvSpPr/>
          <p:nvPr/>
        </p:nvSpPr>
        <p:spPr>
          <a:xfrm>
            <a:off x="6534150" y="4714875"/>
            <a:ext cx="95250" cy="9525"/>
          </a:xfrm>
          <a:custGeom>
            <a:avLst/>
            <a:gdLst/>
            <a:ahLst/>
            <a:cxnLst/>
            <a:rect l="l" t="t" r="r" b="b"/>
            <a:pathLst>
              <a:path w="95250" h="9525">
                <a:moveTo>
                  <a:pt x="0" y="0"/>
                </a:moveTo>
                <a:lnTo>
                  <a:pt x="95250" y="0"/>
                </a:lnTo>
              </a:path>
            </a:pathLst>
          </a:custGeom>
          <a:noFill/>
          <a:ln w="14288">
            <a:solidFill>
              <a:srgbClr val="E2E2E2"/>
            </a:solidFill>
          </a:ln>
        </p:spPr>
      </p:sp>
      <p:sp>
        <p:nvSpPr>
          <p:cNvPr id="89" name="Polygon 89"/>
          <p:cNvSpPr/>
          <p:nvPr/>
        </p:nvSpPr>
        <p:spPr>
          <a:xfrm>
            <a:off x="6629400" y="4667250"/>
            <a:ext cx="38100" cy="95250"/>
          </a:xfrm>
          <a:custGeom>
            <a:avLst/>
            <a:gdLst/>
            <a:ahLst/>
            <a:cxnLst/>
            <a:rect l="l" t="t" r="r" b="b"/>
            <a:pathLst>
              <a:path w="38100" h="95250">
                <a:moveTo>
                  <a:pt x="0" y="0"/>
                </a:moveTo>
                <a:lnTo>
                  <a:pt x="3810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E2E2E2"/>
          </a:solidFill>
          <a:ln>
            <a:noFill/>
          </a:ln>
        </p:spPr>
      </p:sp>
      <p:sp>
        <p:nvSpPr>
          <p:cNvPr id="90" name="Rectangle 90"/>
          <p:cNvSpPr/>
          <p:nvPr/>
        </p:nvSpPr>
        <p:spPr>
          <a:xfrm>
            <a:off x="6667500" y="4381500"/>
            <a:ext cx="1047750" cy="666750"/>
          </a:xfrm>
          <a:prstGeom prst="rect">
            <a:avLst/>
          </a:prstGeom>
          <a:solidFill>
            <a:srgbClr val="1677FF">
              <a:alpha val="40000"/>
            </a:srgbClr>
          </a:solidFill>
          <a:ln>
            <a:noFill/>
          </a:ln>
        </p:spPr>
      </p:sp>
      <p:sp>
        <p:nvSpPr>
          <p:cNvPr id="91" name="Rectangle 91"/>
          <p:cNvSpPr/>
          <p:nvPr/>
        </p:nvSpPr>
        <p:spPr>
          <a:xfrm>
            <a:off x="6667500" y="4381500"/>
            <a:ext cx="1047750" cy="28575"/>
          </a:xfrm>
          <a:prstGeom prst="rect">
            <a:avLst/>
          </a:prstGeom>
          <a:solidFill>
            <a:srgbClr val="1677FF">
              <a:alpha val="40000"/>
            </a:srgbClr>
          </a:solidFill>
          <a:ln>
            <a:noFill/>
          </a:ln>
        </p:spPr>
      </p:sp>
      <p:sp>
        <p:nvSpPr>
          <p:cNvPr id="92" name="TextBox 92"/>
          <p:cNvSpPr txBox="1"/>
          <p:nvPr/>
        </p:nvSpPr>
        <p:spPr>
          <a:xfrm>
            <a:off x="7041928" y="4570095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玩家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7041928" y="4779645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记住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7081492" y="5130641"/>
            <a:ext cx="2197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30%</a:t>
            </a:r>
          </a:p>
        </p:txBody>
      </p:sp>
      <p:sp>
        <p:nvSpPr>
          <p:cNvPr id="95" name="Line 95"/>
          <p:cNvSpPr/>
          <p:nvPr/>
        </p:nvSpPr>
        <p:spPr>
          <a:xfrm>
            <a:off x="7734300" y="4714875"/>
            <a:ext cx="95250" cy="9525"/>
          </a:xfrm>
          <a:custGeom>
            <a:avLst/>
            <a:gdLst/>
            <a:ahLst/>
            <a:cxnLst/>
            <a:rect l="l" t="t" r="r" b="b"/>
            <a:pathLst>
              <a:path w="95250" h="9525">
                <a:moveTo>
                  <a:pt x="0" y="0"/>
                </a:moveTo>
                <a:lnTo>
                  <a:pt x="95250" y="0"/>
                </a:lnTo>
              </a:path>
            </a:pathLst>
          </a:custGeom>
          <a:noFill/>
          <a:ln w="14288">
            <a:solidFill>
              <a:srgbClr val="E2E2E2"/>
            </a:solidFill>
          </a:ln>
        </p:spPr>
      </p:sp>
      <p:sp>
        <p:nvSpPr>
          <p:cNvPr id="96" name="Polygon 96"/>
          <p:cNvSpPr/>
          <p:nvPr/>
        </p:nvSpPr>
        <p:spPr>
          <a:xfrm>
            <a:off x="7829550" y="4667250"/>
            <a:ext cx="38100" cy="95250"/>
          </a:xfrm>
          <a:custGeom>
            <a:avLst/>
            <a:gdLst/>
            <a:ahLst/>
            <a:cxnLst/>
            <a:rect l="l" t="t" r="r" b="b"/>
            <a:pathLst>
              <a:path w="38100" h="95250">
                <a:moveTo>
                  <a:pt x="0" y="0"/>
                </a:moveTo>
                <a:lnTo>
                  <a:pt x="38100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E2E2E2"/>
          </a:solidFill>
          <a:ln>
            <a:noFill/>
          </a:ln>
        </p:spPr>
      </p:sp>
      <p:sp>
        <p:nvSpPr>
          <p:cNvPr id="97" name="Rectangle 97"/>
          <p:cNvSpPr/>
          <p:nvPr/>
        </p:nvSpPr>
        <p:spPr>
          <a:xfrm>
            <a:off x="7867650" y="4381500"/>
            <a:ext cx="1047750" cy="666750"/>
          </a:xfrm>
          <a:prstGeom prst="rect">
            <a:avLst/>
          </a:prstGeom>
          <a:solidFill>
            <a:srgbClr val="1677FF">
              <a:alpha val="40000"/>
            </a:srgbClr>
          </a:solidFill>
          <a:ln>
            <a:noFill/>
          </a:ln>
        </p:spPr>
      </p:sp>
      <p:sp>
        <p:nvSpPr>
          <p:cNvPr id="98" name="Rectangle 98"/>
          <p:cNvSpPr/>
          <p:nvPr/>
        </p:nvSpPr>
        <p:spPr>
          <a:xfrm>
            <a:off x="7867650" y="4381500"/>
            <a:ext cx="1047750" cy="28575"/>
          </a:xfrm>
          <a:prstGeom prst="rect">
            <a:avLst/>
          </a:prstGeom>
          <a:solidFill>
            <a:srgbClr val="1677FF">
              <a:alpha val="40000"/>
            </a:srgbClr>
          </a:solidFill>
          <a:ln>
            <a:noFill/>
          </a:ln>
        </p:spPr>
      </p:sp>
      <p:sp>
        <p:nvSpPr>
          <p:cNvPr id="99" name="TextBox 99"/>
          <p:cNvSpPr txBox="1"/>
          <p:nvPr/>
        </p:nvSpPr>
        <p:spPr>
          <a:xfrm>
            <a:off x="8242078" y="4570095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玩家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8242078" y="4779645"/>
            <a:ext cx="29889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执行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8281642" y="5130641"/>
            <a:ext cx="219766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25%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522922" y="5502116"/>
            <a:ext cx="50292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保真度：</a:t>
            </a:r>
          </a:p>
        </p:txBody>
      </p:sp>
      <p:sp>
        <p:nvSpPr>
          <p:cNvPr id="103" name="Rectangle 103"/>
          <p:cNvSpPr/>
          <p:nvPr/>
        </p:nvSpPr>
        <p:spPr>
          <a:xfrm>
            <a:off x="1143000" y="5476875"/>
            <a:ext cx="10477500" cy="1905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104" name="Rectangle 104"/>
          <p:cNvSpPr/>
          <p:nvPr/>
        </p:nvSpPr>
        <p:spPr>
          <a:xfrm>
            <a:off x="1143000" y="5476875"/>
            <a:ext cx="3143250" cy="190500"/>
          </a:xfrm>
          <a:prstGeom prst="rect">
            <a:avLst/>
          </a:prstGeom>
          <a:solidFill>
            <a:srgbClr val="1677FF">
              <a:alpha val="80000"/>
            </a:srgbClr>
          </a:solidFill>
          <a:ln>
            <a:noFill/>
          </a:ln>
        </p:spPr>
      </p:sp>
      <p:sp>
        <p:nvSpPr>
          <p:cNvPr id="105" name="TextBox 105"/>
          <p:cNvSpPr txBox="1"/>
          <p:nvPr/>
        </p:nvSpPr>
        <p:spPr>
          <a:xfrm>
            <a:off x="4389120" y="5532120"/>
            <a:ext cx="250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B01C1C"/>
                </a:solidFill>
                <a:latin typeface="Segoe UI"/>
                <a:ea typeface="Microsoft YaHei"/>
                <a:cs typeface="Segoe UI"/>
              </a:rPr>
              <a:t>30%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521970" y="5903595"/>
            <a:ext cx="26451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24% 受访者因规则学习成本高而不愿推荐桌游</a:t>
            </a:r>
          </a:p>
        </p:txBody>
      </p:sp>
      <p:sp>
        <p:nvSpPr>
          <p:cNvPr id="107" name="Rectangle 107"/>
          <p:cNvSpPr/>
          <p:nvPr/>
        </p:nvSpPr>
        <p:spPr>
          <a:xfrm>
            <a:off x="533400" y="6143625"/>
            <a:ext cx="11125200" cy="400050"/>
          </a:xfrm>
          <a:prstGeom prst="rect">
            <a:avLst/>
          </a:prstGeom>
          <a:solidFill>
            <a:srgbClr val="E8F0FA"/>
          </a:solidFill>
          <a:ln w="4762">
            <a:solidFill>
              <a:srgbClr val="1677FF"/>
            </a:solidFill>
          </a:ln>
        </p:spPr>
      </p:sp>
      <p:sp>
        <p:nvSpPr>
          <p:cNvPr id="108" name="TextBox 108"/>
          <p:cNvSpPr txBox="1"/>
          <p:nvPr/>
        </p:nvSpPr>
        <p:spPr>
          <a:xfrm>
            <a:off x="674370" y="6294120"/>
            <a:ext cx="374275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分层信息投递：动机层 → 规则层 → 参考层，避免一次性全量灌输</a:t>
            </a:r>
          </a:p>
        </p:txBody>
      </p:sp>
      <p:sp>
        <p:nvSpPr>
          <p:cNvPr id="109" name="Line 109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110" name="TextBox 110"/>
          <p:cNvSpPr txBox="1"/>
          <p:nvPr/>
        </p:nvSpPr>
        <p:spPr>
          <a:xfrm>
            <a:off x="365760" y="6614160"/>
            <a:ext cx="619963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来源：华经产业研究院《2025年中国桌游行业发展现状及趋势分析》 · 2026-06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11401425" y="6614160"/>
            <a:ext cx="4248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365760" y="80010"/>
            <a:ext cx="16078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四、现存痛点与机会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744200" y="80010"/>
            <a:ext cx="10820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桌游调研报告</a:t>
            </a:r>
          </a:p>
        </p:txBody>
      </p:sp>
      <p:sp>
        <p:nvSpPr>
          <p:cNvPr id="5" name="Line 5"/>
          <p:cNvSpPr/>
          <p:nvPr/>
        </p:nvSpPr>
        <p:spPr>
          <a:xfrm>
            <a:off x="381000" y="2857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381000" y="342900"/>
            <a:ext cx="28575" cy="495300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80060" y="537210"/>
            <a:ext cx="371094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社交需求驱动与数字化趋势为桌游设计指明方向</a:t>
            </a:r>
          </a:p>
        </p:txBody>
      </p:sp>
      <p:sp>
        <p:nvSpPr>
          <p:cNvPr id="8" name="Line 8"/>
          <p:cNvSpPr/>
          <p:nvPr/>
        </p:nvSpPr>
        <p:spPr>
          <a:xfrm>
            <a:off x="381000" y="8953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381000" y="952500"/>
            <a:ext cx="5524500" cy="219075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520065" y="1105852"/>
            <a:ext cx="11538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消费者三大障碍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1970" y="1531620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规则学习成本高</a:t>
            </a:r>
          </a:p>
        </p:txBody>
      </p:sp>
      <p:sp>
        <p:nvSpPr>
          <p:cNvPr id="12" name="Rectangle 12"/>
          <p:cNvSpPr/>
          <p:nvPr/>
        </p:nvSpPr>
        <p:spPr>
          <a:xfrm>
            <a:off x="1714500" y="1476375"/>
            <a:ext cx="2857500" cy="209550"/>
          </a:xfrm>
          <a:prstGeom prst="rect">
            <a:avLst/>
          </a:prstGeom>
          <a:solidFill>
            <a:srgbClr val="B01C1C">
              <a:alpha val="85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4636770" y="1541145"/>
            <a:ext cx="250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5/5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21970" y="2065020"/>
            <a:ext cx="4171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凑人难</a:t>
            </a:r>
          </a:p>
        </p:txBody>
      </p:sp>
      <p:sp>
        <p:nvSpPr>
          <p:cNvPr id="15" name="Rectangle 15"/>
          <p:cNvSpPr/>
          <p:nvPr/>
        </p:nvSpPr>
        <p:spPr>
          <a:xfrm>
            <a:off x="1714500" y="2009775"/>
            <a:ext cx="2286000" cy="209550"/>
          </a:xfrm>
          <a:prstGeom prst="rect">
            <a:avLst/>
          </a:prstGeom>
          <a:solidFill>
            <a:srgbClr val="D97706">
              <a:alpha val="85000"/>
            </a:srgbClr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4065270" y="2074545"/>
            <a:ext cx="250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4/5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21970" y="2598420"/>
            <a:ext cx="4171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时间长</a:t>
            </a:r>
          </a:p>
        </p:txBody>
      </p:sp>
      <p:sp>
        <p:nvSpPr>
          <p:cNvPr id="18" name="Rectangle 18"/>
          <p:cNvSpPr/>
          <p:nvPr/>
        </p:nvSpPr>
        <p:spPr>
          <a:xfrm>
            <a:off x="1714500" y="2543175"/>
            <a:ext cx="1714500" cy="209550"/>
          </a:xfrm>
          <a:prstGeom prst="rect">
            <a:avLst/>
          </a:prstGeom>
          <a:solidFill>
            <a:srgbClr val="D97706">
              <a:alpha val="85000"/>
            </a:srgbClr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3493770" y="2607945"/>
            <a:ext cx="2505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3/5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191250" y="952500"/>
            <a:ext cx="5619750" cy="219075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6330315" y="1105852"/>
            <a:ext cx="6707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关键数据</a:t>
            </a:r>
          </a:p>
        </p:txBody>
      </p:sp>
      <p:sp>
        <p:nvSpPr>
          <p:cNvPr id="22" name="Rectangle 22"/>
          <p:cNvSpPr/>
          <p:nvPr/>
        </p:nvSpPr>
        <p:spPr>
          <a:xfrm>
            <a:off x="6343650" y="1428750"/>
            <a:ext cx="2581275" cy="68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6448425" y="1557338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市场规模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438900" y="1790700"/>
            <a:ext cx="119974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273.8 亿元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210425" y="1871662"/>
            <a:ext cx="402431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2024 年</a:t>
            </a:r>
          </a:p>
        </p:txBody>
      </p:sp>
      <p:sp>
        <p:nvSpPr>
          <p:cNvPr id="26" name="Rectangle 26"/>
          <p:cNvSpPr/>
          <p:nvPr/>
        </p:nvSpPr>
        <p:spPr>
          <a:xfrm>
            <a:off x="9077325" y="1428750"/>
            <a:ext cx="2581275" cy="68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9182100" y="1557338"/>
            <a:ext cx="67627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社交玩家占比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172575" y="1790700"/>
            <a:ext cx="41764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33%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944100" y="1871662"/>
            <a:ext cx="676275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核心消费群体</a:t>
            </a:r>
          </a:p>
        </p:txBody>
      </p:sp>
      <p:sp>
        <p:nvSpPr>
          <p:cNvPr id="30" name="Rectangle 30"/>
          <p:cNvSpPr/>
          <p:nvPr/>
        </p:nvSpPr>
        <p:spPr>
          <a:xfrm>
            <a:off x="6343650" y="2228850"/>
            <a:ext cx="2581275" cy="68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6448425" y="2357438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不推荐率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438900" y="2590800"/>
            <a:ext cx="41764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24%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210425" y="2671762"/>
            <a:ext cx="566737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因规则复杂</a:t>
            </a:r>
          </a:p>
        </p:txBody>
      </p:sp>
      <p:sp>
        <p:nvSpPr>
          <p:cNvPr id="34" name="Rectangle 34"/>
          <p:cNvSpPr/>
          <p:nvPr/>
        </p:nvSpPr>
        <p:spPr>
          <a:xfrm>
            <a:off x="9077325" y="2228850"/>
            <a:ext cx="2581275" cy="68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9182100" y="2357438"/>
            <a:ext cx="457200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市场增速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172575" y="2590800"/>
            <a:ext cx="99271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CAGR 30%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944100" y="2671762"/>
            <a:ext cx="533876" cy="152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75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2017-2024</a:t>
            </a:r>
          </a:p>
        </p:txBody>
      </p:sp>
      <p:sp>
        <p:nvSpPr>
          <p:cNvPr id="38" name="Rectangle 38"/>
          <p:cNvSpPr/>
          <p:nvPr/>
        </p:nvSpPr>
        <p:spPr>
          <a:xfrm>
            <a:off x="381000" y="3429000"/>
            <a:ext cx="2667000" cy="28575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39" name="Rectangle 39"/>
          <p:cNvSpPr/>
          <p:nvPr/>
        </p:nvSpPr>
        <p:spPr>
          <a:xfrm>
            <a:off x="381000" y="3429000"/>
            <a:ext cx="2667000" cy="38100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518160" y="366141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▲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10565" y="3677602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市场高速增长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22922" y="3987641"/>
            <a:ext cx="6234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关键数据：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18160" y="4156710"/>
            <a:ext cx="79417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CAGR 30%</a:t>
            </a:r>
          </a:p>
        </p:txBody>
      </p:sp>
      <p:sp>
        <p:nvSpPr>
          <p:cNvPr id="44" name="Rectangle 44"/>
          <p:cNvSpPr/>
          <p:nvPr/>
        </p:nvSpPr>
        <p:spPr>
          <a:xfrm>
            <a:off x="533400" y="4524375"/>
            <a:ext cx="28575" cy="133350"/>
          </a:xfrm>
          <a:prstGeom prst="rect">
            <a:avLst/>
          </a:prstGeom>
          <a:solidFill>
            <a:srgbClr val="1677FF">
              <a:alpha val="60000"/>
            </a:srgbClr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617220" y="4541520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社交需求驱动</a:t>
            </a:r>
          </a:p>
        </p:txBody>
      </p:sp>
      <p:sp>
        <p:nvSpPr>
          <p:cNvPr id="46" name="Rectangle 46"/>
          <p:cNvSpPr/>
          <p:nvPr/>
        </p:nvSpPr>
        <p:spPr>
          <a:xfrm>
            <a:off x="533400" y="4733925"/>
            <a:ext cx="28575" cy="133350"/>
          </a:xfrm>
          <a:prstGeom prst="rect">
            <a:avLst/>
          </a:prstGeom>
          <a:solidFill>
            <a:srgbClr val="1677FF">
              <a:alpha val="60000"/>
            </a:srgbClr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617220" y="4751070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消费升级推动</a:t>
            </a:r>
          </a:p>
        </p:txBody>
      </p:sp>
      <p:sp>
        <p:nvSpPr>
          <p:cNvPr id="48" name="Rectangle 48"/>
          <p:cNvSpPr/>
          <p:nvPr/>
        </p:nvSpPr>
        <p:spPr>
          <a:xfrm>
            <a:off x="533400" y="4943475"/>
            <a:ext cx="28575" cy="133350"/>
          </a:xfrm>
          <a:prstGeom prst="rect">
            <a:avLst/>
          </a:prstGeom>
          <a:solidFill>
            <a:srgbClr val="1677FF">
              <a:alpha val="60000"/>
            </a:srgbClr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617220" y="4960620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新产品有空间</a:t>
            </a:r>
          </a:p>
        </p:txBody>
      </p:sp>
      <p:sp>
        <p:nvSpPr>
          <p:cNvPr id="50" name="Rectangle 50"/>
          <p:cNvSpPr/>
          <p:nvPr/>
        </p:nvSpPr>
        <p:spPr>
          <a:xfrm>
            <a:off x="3295650" y="3429000"/>
            <a:ext cx="2667000" cy="28575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51" name="Rectangle 51"/>
          <p:cNvSpPr/>
          <p:nvPr/>
        </p:nvSpPr>
        <p:spPr>
          <a:xfrm>
            <a:off x="3295650" y="3429000"/>
            <a:ext cx="2667000" cy="38100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52" name="TextBox 52"/>
          <p:cNvSpPr txBox="1"/>
          <p:nvPr/>
        </p:nvSpPr>
        <p:spPr>
          <a:xfrm>
            <a:off x="3432810" y="366141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●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3625215" y="3677602"/>
            <a:ext cx="11538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数字化教学兴起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437572" y="3987641"/>
            <a:ext cx="6234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关键数据：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3432810" y="4156710"/>
            <a:ext cx="11254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BGA 月活新高</a:t>
            </a:r>
          </a:p>
        </p:txBody>
      </p:sp>
      <p:sp>
        <p:nvSpPr>
          <p:cNvPr id="56" name="Rectangle 56"/>
          <p:cNvSpPr/>
          <p:nvPr/>
        </p:nvSpPr>
        <p:spPr>
          <a:xfrm>
            <a:off x="3448050" y="4524375"/>
            <a:ext cx="28575" cy="133350"/>
          </a:xfrm>
          <a:prstGeom prst="rect">
            <a:avLst/>
          </a:prstGeom>
          <a:solidFill>
            <a:srgbClr val="1677FF">
              <a:alpha val="60000"/>
            </a:srgbClr>
          </a:solidFill>
          <a:ln>
            <a:noFill/>
          </a:ln>
        </p:spPr>
      </p:sp>
      <p:sp>
        <p:nvSpPr>
          <p:cNvPr id="57" name="TextBox 57"/>
          <p:cNvSpPr txBox="1"/>
          <p:nvPr/>
        </p:nvSpPr>
        <p:spPr>
          <a:xfrm>
            <a:off x="3531870" y="4541520"/>
            <a:ext cx="10744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扫码学规则成标配</a:t>
            </a:r>
          </a:p>
        </p:txBody>
      </p:sp>
      <p:sp>
        <p:nvSpPr>
          <p:cNvPr id="58" name="Rectangle 58"/>
          <p:cNvSpPr/>
          <p:nvPr/>
        </p:nvSpPr>
        <p:spPr>
          <a:xfrm>
            <a:off x="3448050" y="4733925"/>
            <a:ext cx="28575" cy="133350"/>
          </a:xfrm>
          <a:prstGeom prst="rect">
            <a:avLst/>
          </a:prstGeom>
          <a:solidFill>
            <a:srgbClr val="1677FF">
              <a:alpha val="60000"/>
            </a:srgbClr>
          </a:solidFill>
          <a:ln>
            <a:noFill/>
          </a:ln>
        </p:spPr>
      </p:sp>
      <p:sp>
        <p:nvSpPr>
          <p:cNvPr id="59" name="TextBox 59"/>
          <p:cNvSpPr txBox="1"/>
          <p:nvPr/>
        </p:nvSpPr>
        <p:spPr>
          <a:xfrm>
            <a:off x="3531870" y="4751070"/>
            <a:ext cx="9429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游戏应预设数字</a:t>
            </a:r>
          </a:p>
        </p:txBody>
      </p:sp>
      <p:sp>
        <p:nvSpPr>
          <p:cNvPr id="60" name="Rectangle 60"/>
          <p:cNvSpPr/>
          <p:nvPr/>
        </p:nvSpPr>
        <p:spPr>
          <a:xfrm>
            <a:off x="3448050" y="4943475"/>
            <a:ext cx="28575" cy="133350"/>
          </a:xfrm>
          <a:prstGeom prst="rect">
            <a:avLst/>
          </a:prstGeom>
          <a:solidFill>
            <a:srgbClr val="1677FF">
              <a:alpha val="60000"/>
            </a:srgbClr>
          </a:solidFill>
          <a:ln>
            <a:noFill/>
          </a:ln>
        </p:spPr>
      </p:sp>
      <p:sp>
        <p:nvSpPr>
          <p:cNvPr id="61" name="TextBox 61"/>
          <p:cNvSpPr txBox="1"/>
          <p:nvPr/>
        </p:nvSpPr>
        <p:spPr>
          <a:xfrm>
            <a:off x="3531870" y="4960620"/>
            <a:ext cx="8115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教学信息架构</a:t>
            </a:r>
          </a:p>
        </p:txBody>
      </p:sp>
      <p:sp>
        <p:nvSpPr>
          <p:cNvPr id="62" name="Rectangle 62"/>
          <p:cNvSpPr/>
          <p:nvPr/>
        </p:nvSpPr>
        <p:spPr>
          <a:xfrm>
            <a:off x="6210300" y="3429000"/>
            <a:ext cx="2667000" cy="28575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63" name="Rectangle 63"/>
          <p:cNvSpPr/>
          <p:nvPr/>
        </p:nvSpPr>
        <p:spPr>
          <a:xfrm>
            <a:off x="6210300" y="3429000"/>
            <a:ext cx="2667000" cy="38100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64" name="TextBox 64"/>
          <p:cNvSpPr txBox="1"/>
          <p:nvPr/>
        </p:nvSpPr>
        <p:spPr>
          <a:xfrm>
            <a:off x="6347460" y="366141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■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6539865" y="3677602"/>
            <a:ext cx="99279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入门市场为主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6352222" y="3987641"/>
            <a:ext cx="6234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关键数据：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347460" y="4156710"/>
            <a:ext cx="112541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80% 玩家入门</a:t>
            </a:r>
          </a:p>
        </p:txBody>
      </p:sp>
      <p:sp>
        <p:nvSpPr>
          <p:cNvPr id="68" name="Rectangle 68"/>
          <p:cNvSpPr/>
          <p:nvPr/>
        </p:nvSpPr>
        <p:spPr>
          <a:xfrm>
            <a:off x="6362700" y="4524375"/>
            <a:ext cx="28575" cy="133350"/>
          </a:xfrm>
          <a:prstGeom prst="rect">
            <a:avLst/>
          </a:prstGeom>
          <a:solidFill>
            <a:srgbClr val="1677FF">
              <a:alpha val="60000"/>
            </a:srgbClr>
          </a:solidFill>
          <a:ln>
            <a:noFill/>
          </a:ln>
        </p:spPr>
      </p:sp>
      <p:sp>
        <p:nvSpPr>
          <p:cNvPr id="69" name="TextBox 69"/>
          <p:cNvSpPr txBox="1"/>
          <p:nvPr/>
        </p:nvSpPr>
        <p:spPr>
          <a:xfrm>
            <a:off x="6446520" y="4541520"/>
            <a:ext cx="11467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毛线-轻策最大市场</a:t>
            </a:r>
          </a:p>
        </p:txBody>
      </p:sp>
      <p:sp>
        <p:nvSpPr>
          <p:cNvPr id="70" name="Rectangle 70"/>
          <p:cNvSpPr/>
          <p:nvPr/>
        </p:nvSpPr>
        <p:spPr>
          <a:xfrm>
            <a:off x="6362700" y="4733925"/>
            <a:ext cx="28575" cy="133350"/>
          </a:xfrm>
          <a:prstGeom prst="rect">
            <a:avLst/>
          </a:prstGeom>
          <a:solidFill>
            <a:srgbClr val="1677FF">
              <a:alpha val="60000"/>
            </a:srgbClr>
          </a:solidFill>
          <a:ln>
            <a:noFill/>
          </a:ln>
        </p:spPr>
      </p:sp>
      <p:sp>
        <p:nvSpPr>
          <p:cNvPr id="71" name="TextBox 71"/>
          <p:cNvSpPr txBox="1"/>
          <p:nvPr/>
        </p:nvSpPr>
        <p:spPr>
          <a:xfrm>
            <a:off x="6446520" y="4751070"/>
            <a:ext cx="10744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过度复杂限制受众</a:t>
            </a:r>
          </a:p>
        </p:txBody>
      </p:sp>
      <p:sp>
        <p:nvSpPr>
          <p:cNvPr id="72" name="Rectangle 72"/>
          <p:cNvSpPr/>
          <p:nvPr/>
        </p:nvSpPr>
        <p:spPr>
          <a:xfrm>
            <a:off x="6362700" y="4943475"/>
            <a:ext cx="28575" cy="133350"/>
          </a:xfrm>
          <a:prstGeom prst="rect">
            <a:avLst/>
          </a:prstGeom>
          <a:solidFill>
            <a:srgbClr val="1677FF">
              <a:alpha val="60000"/>
            </a:srgbClr>
          </a:solidFill>
          <a:ln>
            <a:noFill/>
          </a:ln>
        </p:spPr>
      </p:sp>
      <p:sp>
        <p:nvSpPr>
          <p:cNvPr id="73" name="TextBox 73"/>
          <p:cNvSpPr txBox="1"/>
          <p:nvPr/>
        </p:nvSpPr>
        <p:spPr>
          <a:xfrm>
            <a:off x="6446520" y="4960620"/>
            <a:ext cx="125844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15-30min 小体量机会</a:t>
            </a:r>
          </a:p>
        </p:txBody>
      </p:sp>
      <p:sp>
        <p:nvSpPr>
          <p:cNvPr id="74" name="Rectangle 74"/>
          <p:cNvSpPr/>
          <p:nvPr/>
        </p:nvSpPr>
        <p:spPr>
          <a:xfrm>
            <a:off x="9124950" y="3429000"/>
            <a:ext cx="2667000" cy="2857500"/>
          </a:xfrm>
          <a:prstGeom prst="rect">
            <a:avLst/>
          </a:prstGeom>
          <a:solidFill>
            <a:srgbClr val="FFFFFF"/>
          </a:solidFill>
          <a:ln w="4762">
            <a:solidFill>
              <a:srgbClr val="E2E2E2"/>
            </a:solidFill>
          </a:ln>
        </p:spPr>
      </p:sp>
      <p:sp>
        <p:nvSpPr>
          <p:cNvPr id="75" name="Rectangle 75"/>
          <p:cNvSpPr/>
          <p:nvPr/>
        </p:nvSpPr>
        <p:spPr>
          <a:xfrm>
            <a:off x="9124950" y="3429000"/>
            <a:ext cx="2667000" cy="38100"/>
          </a:xfrm>
          <a:prstGeom prst="rect">
            <a:avLst/>
          </a:prstGeom>
          <a:solidFill>
            <a:srgbClr val="1677FF"/>
          </a:solidFill>
          <a:ln>
            <a:noFill/>
          </a:ln>
        </p:spPr>
      </p:sp>
      <p:sp>
        <p:nvSpPr>
          <p:cNvPr id="76" name="TextBox 76"/>
          <p:cNvSpPr txBox="1"/>
          <p:nvPr/>
        </p:nvSpPr>
        <p:spPr>
          <a:xfrm>
            <a:off x="9262110" y="3661410"/>
            <a:ext cx="12687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◆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9454515" y="3677602"/>
            <a:ext cx="11538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轻人力运营趋势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9266872" y="3987641"/>
            <a:ext cx="623411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82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关键数据：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9262110" y="4156710"/>
            <a:ext cx="113461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677FF"/>
                </a:solidFill>
                <a:latin typeface="Segoe UI"/>
                <a:ea typeface="Microsoft YaHei"/>
                <a:cs typeface="Segoe UI"/>
              </a:rPr>
              <a:t>无人值守兴起</a:t>
            </a:r>
          </a:p>
        </p:txBody>
      </p:sp>
      <p:sp>
        <p:nvSpPr>
          <p:cNvPr id="80" name="Rectangle 80"/>
          <p:cNvSpPr/>
          <p:nvPr/>
        </p:nvSpPr>
        <p:spPr>
          <a:xfrm>
            <a:off x="9277350" y="4524375"/>
            <a:ext cx="28575" cy="133350"/>
          </a:xfrm>
          <a:prstGeom prst="rect">
            <a:avLst/>
          </a:prstGeom>
          <a:solidFill>
            <a:srgbClr val="1677FF">
              <a:alpha val="60000"/>
            </a:srgbClr>
          </a:solidFill>
          <a:ln>
            <a:noFill/>
          </a:ln>
        </p:spPr>
      </p:sp>
      <p:sp>
        <p:nvSpPr>
          <p:cNvPr id="81" name="TextBox 81"/>
          <p:cNvSpPr txBox="1"/>
          <p:nvPr/>
        </p:nvSpPr>
        <p:spPr>
          <a:xfrm>
            <a:off x="9361170" y="4541520"/>
            <a:ext cx="11467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智能门禁+自助点单</a:t>
            </a:r>
          </a:p>
        </p:txBody>
      </p:sp>
      <p:sp>
        <p:nvSpPr>
          <p:cNvPr id="82" name="Rectangle 82"/>
          <p:cNvSpPr/>
          <p:nvPr/>
        </p:nvSpPr>
        <p:spPr>
          <a:xfrm>
            <a:off x="9277350" y="4733925"/>
            <a:ext cx="28575" cy="133350"/>
          </a:xfrm>
          <a:prstGeom prst="rect">
            <a:avLst/>
          </a:prstGeom>
          <a:solidFill>
            <a:srgbClr val="1677FF">
              <a:alpha val="60000"/>
            </a:srgbClr>
          </a:solidFill>
          <a:ln>
            <a:noFill/>
          </a:ln>
        </p:spPr>
      </p:sp>
      <p:sp>
        <p:nvSpPr>
          <p:cNvPr id="83" name="TextBox 83"/>
          <p:cNvSpPr txBox="1"/>
          <p:nvPr/>
        </p:nvSpPr>
        <p:spPr>
          <a:xfrm>
            <a:off x="9361170" y="4751070"/>
            <a:ext cx="11927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游戏需减少 DM 依赖</a:t>
            </a:r>
          </a:p>
        </p:txBody>
      </p:sp>
      <p:sp>
        <p:nvSpPr>
          <p:cNvPr id="84" name="Rectangle 84"/>
          <p:cNvSpPr/>
          <p:nvPr/>
        </p:nvSpPr>
        <p:spPr>
          <a:xfrm>
            <a:off x="9277350" y="4943475"/>
            <a:ext cx="28575" cy="133350"/>
          </a:xfrm>
          <a:prstGeom prst="rect">
            <a:avLst/>
          </a:prstGeom>
          <a:solidFill>
            <a:srgbClr val="1677FF">
              <a:alpha val="60000"/>
            </a:srgbClr>
          </a:solidFill>
          <a:ln>
            <a:noFill/>
          </a:ln>
        </p:spPr>
      </p:sp>
      <p:sp>
        <p:nvSpPr>
          <p:cNvPr id="85" name="TextBox 85"/>
          <p:cNvSpPr txBox="1"/>
          <p:nvPr/>
        </p:nvSpPr>
        <p:spPr>
          <a:xfrm>
            <a:off x="9361170" y="4960620"/>
            <a:ext cx="10744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333333"/>
                </a:solidFill>
                <a:latin typeface="Segoe UI"/>
                <a:ea typeface="Microsoft YaHei"/>
                <a:cs typeface="Segoe UI"/>
              </a:rPr>
              <a:t>配套数字教学工具</a:t>
            </a:r>
          </a:p>
        </p:txBody>
      </p:sp>
      <p:sp>
        <p:nvSpPr>
          <p:cNvPr id="86" name="Rectangle 86"/>
          <p:cNvSpPr/>
          <p:nvPr/>
        </p:nvSpPr>
        <p:spPr>
          <a:xfrm>
            <a:off x="381000" y="6477000"/>
            <a:ext cx="11430000" cy="95250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Line 87"/>
          <p:cNvSpPr/>
          <p:nvPr/>
        </p:nvSpPr>
        <p:spPr>
          <a:xfrm>
            <a:off x="381000" y="6572250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</a:path>
            </a:pathLst>
          </a:custGeom>
          <a:noFill/>
          <a:ln w="4762">
            <a:solidFill>
              <a:srgbClr val="E2E2E2"/>
            </a:solidFill>
          </a:ln>
        </p:spPr>
      </p:sp>
      <p:sp>
        <p:nvSpPr>
          <p:cNvPr id="88" name="TextBox 88"/>
          <p:cNvSpPr txBox="1"/>
          <p:nvPr/>
        </p:nvSpPr>
        <p:spPr>
          <a:xfrm>
            <a:off x="365760" y="6614160"/>
            <a:ext cx="6199632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来源：华经产业研究院《2025年中国桌游行业发展现状及趋势分析》 · 2026-06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1401425" y="6614160"/>
            <a:ext cx="42481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dirty="0">
                <a:solidFill>
                  <a:srgbClr val="000000"/>
                </a:solidFill>
                <a:latin typeface="Segoe UI"/>
                <a:ea typeface="Microsoft YaHei"/>
                <a:cs typeface="Segoe UI"/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